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Sales $k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West</c:v>
                </c:pt>
                <c:pt idx="2">
                  <c:v>South</c:v>
                </c:pt>
                <c:pt idx="3">
                  <c:v>East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118</c:v>
                </c:pt>
                <c:pt idx="1">
                  <c:v>103</c:v>
                </c:pt>
                <c:pt idx="2">
                  <c:v>91</c:v>
                </c:pt>
                <c:pt idx="3">
                  <c:v>76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42</c:v>
                </c:pt>
                <c:pt idx="1">
                  <c:v>48</c:v>
                </c:pt>
                <c:pt idx="2">
                  <c:v>46</c:v>
                </c:pt>
                <c:pt idx="3">
                  <c:v>55</c:v>
                </c:pt>
                <c:pt idx="4">
                  <c:v>61</c:v>
                </c:pt>
                <c:pt idx="5">
                  <c:v>67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Plan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45</c:v>
                </c:pt>
                <c:pt idx="1">
                  <c:v>47</c:v>
                </c:pt>
                <c:pt idx="2">
                  <c:v>50</c:v>
                </c:pt>
                <c:pt idx="3">
                  <c:v>54</c:v>
                </c:pt>
                <c:pt idx="4">
                  <c:v>58</c:v>
                </c:pt>
                <c:pt idx="5">
                  <c:v>62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style val="1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Online</c:v>
                </c:pt>
                <c:pt idx="1">
                  <c:v>Retail</c:v>
                </c:pt>
                <c:pt idx="2">
                  <c:v>Partner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52</c:v>
                </c:pt>
                <c:pt idx="1">
                  <c:v>31</c:v>
                </c:pt>
                <c:pt idx="2">
                  <c:v>17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Low</c:v>
                </c:pt>
                <c:pt idx="1">
                  <c:v>Medium</c:v>
                </c:pt>
                <c:pt idx="2">
                  <c:v>High</c:v>
                </c:pt>
                <c:pt idx="3">
                  <c:v>Very high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34</c:v>
                </c:pt>
                <c:pt idx="1">
                  <c:v>49</c:v>
                </c:pt>
                <c:pt idx="2">
                  <c:v>67</c:v>
                </c:pt>
                <c:pt idx="3">
                  <c:v>81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Profit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Low</c:v>
                </c:pt>
                <c:pt idx="1">
                  <c:v>Medium</c:v>
                </c:pt>
                <c:pt idx="2">
                  <c:v>High</c:v>
                </c:pt>
                <c:pt idx="3">
                  <c:v>Very high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18</c:v>
                </c:pt>
                <c:pt idx="1">
                  <c:v>27</c:v>
                </c:pt>
                <c:pt idx="2">
                  <c:v>38</c:v>
                </c:pt>
                <c:pt idx="3">
                  <c:v>44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Revenue</c:v>
                </c:pt>
                <c:pt idx="1">
                  <c:v>Margin</c:v>
                </c:pt>
                <c:pt idx="2">
                  <c:v>Retention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96</c:v>
                </c:pt>
                <c:pt idx="1">
                  <c:v>83</c:v>
                </c:pt>
                <c:pt idx="2">
                  <c:v>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Revenue</c:v>
                </c:pt>
                <c:pt idx="1">
                  <c:v>Margin</c:v>
                </c:pt>
                <c:pt idx="2">
                  <c:v>Retention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100</c:v>
                </c:pt>
                <c:pt idx="1">
                  <c:v>90</c:v>
                </c:pt>
                <c:pt idx="2">
                  <c:v>90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Revenue</c:v>
                </c:pt>
                <c:pt idx="1">
                  <c:v>Margin</c:v>
                </c:pt>
                <c:pt idx="2">
                  <c:v>Retention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96</c:v>
                </c:pt>
                <c:pt idx="1">
                  <c:v>83</c:v>
                </c:pt>
                <c:pt idx="2">
                  <c:v>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Revenue</c:v>
                </c:pt>
                <c:pt idx="1">
                  <c:v>Margin</c:v>
                </c:pt>
                <c:pt idx="2">
                  <c:v>Retention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100</c:v>
                </c:pt>
                <c:pt idx="1">
                  <c:v>90</c:v>
                </c:pt>
                <c:pt idx="2">
                  <c:v>90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Minutes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Mon</c:v>
                </c:pt>
                <c:pt idx="1">
                  <c:v>Tue</c:v>
                </c:pt>
                <c:pt idx="2">
                  <c:v>Wed</c:v>
                </c:pt>
                <c:pt idx="3">
                  <c:v>Thu</c:v>
                </c:pt>
                <c:pt idx="4">
                  <c:v>Fri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</c:v>
                </c:pt>
                <c:pt idx="1">
                  <c:v>9</c:v>
                </c:pt>
                <c:pt idx="2">
                  <c:v>14</c:v>
                </c:pt>
                <c:pt idx="3">
                  <c:v>7</c:v>
                </c:pt>
                <c:pt idx="4">
                  <c:v>11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42</c:v>
                </c:pt>
                <c:pt idx="1">
                  <c:v>48</c:v>
                </c:pt>
                <c:pt idx="2">
                  <c:v>46</c:v>
                </c:pt>
                <c:pt idx="3">
                  <c:v>55</c:v>
                </c:pt>
                <c:pt idx="4">
                  <c:v>61</c:v>
                </c:pt>
                <c:pt idx="5">
                  <c:v>67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Plan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45</c:v>
                </c:pt>
                <c:pt idx="1">
                  <c:v>47</c:v>
                </c:pt>
                <c:pt idx="2">
                  <c:v>50</c:v>
                </c:pt>
                <c:pt idx="3">
                  <c:v>54</c:v>
                </c:pt>
                <c:pt idx="4">
                  <c:v>58</c:v>
                </c:pt>
                <c:pt idx="5">
                  <c:v>62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style val="1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Online</c:v>
                </c:pt>
                <c:pt idx="1">
                  <c:v>Retail</c:v>
                </c:pt>
                <c:pt idx="2">
                  <c:v>Partner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52</c:v>
                </c:pt>
                <c:pt idx="1">
                  <c:v>31</c:v>
                </c:pt>
                <c:pt idx="2">
                  <c:v>17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CY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44</c:v>
                </c:pt>
                <c:pt idx="1">
                  <c:v>51</c:v>
                </c:pt>
                <c:pt idx="2">
                  <c:v>55</c:v>
                </c:pt>
                <c:pt idx="3">
                  <c:v>62</c:v>
                </c:pt>
                <c:pt idx="4">
                  <c:v>68</c:v>
                </c:pt>
                <c:pt idx="5">
                  <c:v>74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PY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</c:v>
                </c:pt>
                <c:pt idx="1">
                  <c:v>43</c:v>
                </c:pt>
                <c:pt idx="2">
                  <c:v>49</c:v>
                </c:pt>
                <c:pt idx="3">
                  <c:v>53</c:v>
                </c:pt>
                <c:pt idx="4">
                  <c:v>58</c:v>
                </c:pt>
                <c:pt idx="5">
                  <c:v>61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Sales $k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West</c:v>
                </c:pt>
                <c:pt idx="2">
                  <c:v>South</c:v>
                </c:pt>
                <c:pt idx="3">
                  <c:v>East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118</c:v>
                </c:pt>
                <c:pt idx="1">
                  <c:v>103</c:v>
                </c:pt>
                <c:pt idx="2">
                  <c:v>91</c:v>
                </c:pt>
                <c:pt idx="3">
                  <c:v>76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42</c:v>
                </c:pt>
                <c:pt idx="1">
                  <c:v>48</c:v>
                </c:pt>
                <c:pt idx="2">
                  <c:v>51</c:v>
                </c:pt>
                <c:pt idx="3">
                  <c:v>57</c:v>
                </c:pt>
                <c:pt idx="4">
                  <c:v>61</c:v>
                </c:pt>
                <c:pt idx="5">
                  <c:v>66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Forecast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3">
                  <c:v>58</c:v>
                </c:pt>
                <c:pt idx="4">
                  <c:v>64</c:v>
                </c:pt>
                <c:pt idx="5">
                  <c:v>71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ms-tms.tertiaryinfotech.com/" TargetMode="External"/><Relationship Id="rId3" Type="http://schemas.openxmlformats.org/officeDocument/2006/relationships/hyperlink" Target="https://github.com/tertiarycourses/TGS-2020505444-Data-Analytics-and-Visualization-with-Power-BI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ms-tms.tertiaryinfotech.com/" TargetMode="Externa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-hero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0"/>
            <a:ext cx="6705295" cy="6620256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30368" y="0"/>
            <a:ext cx="685800" cy="662025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320040"/>
            <a:ext cx="621792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566928"/>
            <a:ext cx="49377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WSQ · DATA VISUALISATION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60704"/>
            <a:ext cx="4846320" cy="1874519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0F172A"/>
                </a:solidFill>
                <a:latin typeface="Arial"/>
              </a:rPr>
              <a:t>Data Analytics and Visualization with Power BI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3090672"/>
            <a:ext cx="44805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7C3AED"/>
                </a:solidFill>
                <a:latin typeface="Arial"/>
              </a:rPr>
              <a:t>Turn data into trusted decisions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3730752"/>
            <a:ext cx="4389120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Course Code: TGS-2020505444
Version: v15.0 · 20 August 2026
Trainer: __________________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5074920"/>
            <a:ext cx="438912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Tertiary Infotech Academy Pte Ltd
UEN: 201200696W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  <p:transition spd="fast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TRAQOM · SSG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53312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353312"/>
            <a:ext cx="82296" cy="20299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6384" y="1664208"/>
            <a:ext cx="502920" cy="50292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78308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609344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39696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Complete SSG digital attendance at the start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353312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1344" y="1353312"/>
            <a:ext cx="82296" cy="202996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37376" y="1664208"/>
            <a:ext cx="502920" cy="50292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178308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14031" y="1609344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PM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2139696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Complete the afternoon attendance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0352" y="3657600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0352" y="3657600"/>
            <a:ext cx="82296" cy="202996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6384" y="3968496"/>
            <a:ext cx="502920" cy="50292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08736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913632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Assessment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443984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Complete the assessment attendance before the papers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1344" y="3657600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1344" y="3657600"/>
            <a:ext cx="82296" cy="202996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37376" y="3968496"/>
            <a:ext cx="502920" cy="502920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37376" y="408736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4031" y="3913632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Evidence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4443984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Use the trainer-provided TRAQOM QR code</a:t>
            </a:r>
          </a:p>
        </p:txBody>
      </p:sp>
    </p:spTree>
  </p:cSld>
  <p:clrMapOvr>
    <a:masterClrMapping/>
  </p:clrMapOvr>
  <p:transition spd="fast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Arial"/>
              </a:rPr>
              <a:t>TRAINER PROFILE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About the Trainer · Approved Facilitator Profile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325880"/>
            <a:ext cx="2926080" cy="452628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44752" y="1828800"/>
            <a:ext cx="1188720" cy="1188720"/>
          </a:xfrm>
          <a:prstGeom prst="ellipse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44752" y="2212848"/>
            <a:ext cx="11887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TF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291840"/>
            <a:ext cx="24688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0F172A"/>
                </a:solidFill>
                <a:latin typeface="Arial"/>
              </a:rPr>
              <a:t>Approved Facilitator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822191"/>
            <a:ext cx="246888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0">
                <a:solidFill>
                  <a:srgbClr val="334155"/>
                </a:solidFill>
                <a:latin typeface="Arial"/>
              </a:rPr>
              <a:t>Profile template · complete before class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94760" y="1325880"/>
            <a:ext cx="781812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94760" y="1325880"/>
            <a:ext cx="73152" cy="62179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41648" y="1408176"/>
            <a:ext cx="1874519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1F6FEB"/>
                </a:solidFill>
                <a:latin typeface="Arial"/>
              </a:rPr>
              <a:t>NAME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25312" y="1472184"/>
            <a:ext cx="5349240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[Trainer name]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94760" y="2084831"/>
            <a:ext cx="781812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94760" y="2084831"/>
            <a:ext cx="73152" cy="62179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41648" y="2167127"/>
            <a:ext cx="1874519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10B981"/>
                </a:solidFill>
                <a:latin typeface="Arial"/>
              </a:rPr>
              <a:t>TITLE / DESIGNATION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25312" y="2231136"/>
            <a:ext cx="5349240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[Current role]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794760" y="2843784"/>
            <a:ext cx="781812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94760" y="2843784"/>
            <a:ext cx="73152" cy="62179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41648" y="2926079"/>
            <a:ext cx="1874519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7C3AED"/>
                </a:solidFill>
                <a:latin typeface="Arial"/>
              </a:rPr>
              <a:t>QUALIFICATIONS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25312" y="2990088"/>
            <a:ext cx="5349240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[Relevant credentials]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94760" y="3602735"/>
            <a:ext cx="781812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94760" y="3602735"/>
            <a:ext cx="73152" cy="62179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041648" y="3685031"/>
            <a:ext cx="1874519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F59E0B"/>
                </a:solidFill>
                <a:latin typeface="Arial"/>
              </a:rPr>
              <a:t>AREAS OF EXPERTISE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25312" y="3749039"/>
            <a:ext cx="5349240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[Power BI and data specialisms]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94760" y="4361688"/>
            <a:ext cx="781812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794760" y="4361688"/>
            <a:ext cx="73152" cy="62179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41648" y="4443983"/>
            <a:ext cx="1874519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1F6FEB"/>
                </a:solidFill>
                <a:latin typeface="Arial"/>
              </a:rPr>
              <a:t>TRAINING &amp; EXPERIENCE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25312" y="4507992"/>
            <a:ext cx="5349240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[Industry and facilitation experience]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794760" y="5120640"/>
            <a:ext cx="781812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94760" y="5120640"/>
            <a:ext cx="73152" cy="62179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41648" y="5202936"/>
            <a:ext cx="1874519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10B981"/>
                </a:solidFill>
                <a:latin typeface="Arial"/>
              </a:rPr>
              <a:t>CONTACT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25312" y="5266944"/>
            <a:ext cx="5349240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[Professional contact]</a:t>
            </a:r>
          </a:p>
        </p:txBody>
      </p:sp>
    </p:spTree>
  </p:cSld>
  <p:clrMapOvr>
    <a:masterClrMapping/>
  </p:clrMapOvr>
  <p:transition spd="fast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TRAINER PROFILE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About the Trainer · Dr Alfred Ang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325880"/>
            <a:ext cx="2926080" cy="452628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44752" y="1828800"/>
            <a:ext cx="1188720" cy="118872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44752" y="2212848"/>
            <a:ext cx="11887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291840"/>
            <a:ext cx="24688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0F172A"/>
                </a:solidFill>
                <a:latin typeface="Arial"/>
              </a:rPr>
              <a:t>Dr Alfred Ang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822191"/>
            <a:ext cx="246888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0">
                <a:solidFill>
                  <a:srgbClr val="334155"/>
                </a:solidFill>
                <a:latin typeface="Arial"/>
              </a:rPr>
              <a:t>Founder · Trainer · Technologist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94760" y="1325880"/>
            <a:ext cx="781812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94760" y="1325880"/>
            <a:ext cx="73152" cy="62179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41648" y="1408176"/>
            <a:ext cx="1874519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1F6FEB"/>
                </a:solidFill>
                <a:latin typeface="Arial"/>
              </a:rPr>
              <a:t>NAME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25312" y="1472184"/>
            <a:ext cx="5349240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Dr Alfred Ang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94760" y="2084831"/>
            <a:ext cx="781812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94760" y="2084831"/>
            <a:ext cx="73152" cy="62179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41648" y="2167127"/>
            <a:ext cx="1874519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10B981"/>
                </a:solidFill>
                <a:latin typeface="Arial"/>
              </a:rPr>
              <a:t>TITLE / DESIGNATION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25312" y="2231136"/>
            <a:ext cx="5349240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Founder and Lead Trainer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794760" y="2843784"/>
            <a:ext cx="781812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94760" y="2843784"/>
            <a:ext cx="73152" cy="62179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41648" y="2926079"/>
            <a:ext cx="1874519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7C3AED"/>
                </a:solidFill>
                <a:latin typeface="Arial"/>
              </a:rPr>
              <a:t>QUALIFICATIONS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25312" y="2990088"/>
            <a:ext cx="5349240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Adult educator and technology practitioner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94760" y="3602735"/>
            <a:ext cx="781812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94760" y="3602735"/>
            <a:ext cx="73152" cy="62179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041648" y="3685031"/>
            <a:ext cx="1874519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F59E0B"/>
                </a:solidFill>
                <a:latin typeface="Arial"/>
              </a:rPr>
              <a:t>AREAS OF EXPERTISE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25312" y="3749039"/>
            <a:ext cx="5349240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AI, analytics, automation and digital transformation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94760" y="4361688"/>
            <a:ext cx="781812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794760" y="4361688"/>
            <a:ext cx="73152" cy="62179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41648" y="4443983"/>
            <a:ext cx="1874519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1F6FEB"/>
                </a:solidFill>
                <a:latin typeface="Arial"/>
              </a:rPr>
              <a:t>TRAINING &amp; EXPERIENCE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25312" y="4507992"/>
            <a:ext cx="5349240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Industry-led, applied learning for working professionals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794760" y="5120640"/>
            <a:ext cx="781812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94760" y="5120640"/>
            <a:ext cx="73152" cy="62179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41648" y="5202936"/>
            <a:ext cx="1874519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10B981"/>
                </a:solidFill>
                <a:latin typeface="Arial"/>
              </a:rPr>
              <a:t>CONTACT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25312" y="5266944"/>
            <a:ext cx="5349240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enquiry@tertiaryinfotech.com</a:t>
            </a:r>
          </a:p>
        </p:txBody>
      </p:sp>
    </p:spTree>
  </p:cSld>
  <p:clrMapOvr>
    <a:masterClrMapping/>
  </p:clrMapOvr>
  <p:transition spd="fast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LEARNER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Let’s Know Each Other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11137392" cy="4864608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609344"/>
            <a:ext cx="1037844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01  </a:t>
            </a:r>
            <a:r>
              <a:rPr sz="1700">
                <a:solidFill>
                  <a:srgbClr val="0F172A"/>
                </a:solidFill>
                <a:latin typeface="Arial"/>
              </a:rPr>
              <a:t>Name and role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02  </a:t>
            </a:r>
            <a:r>
              <a:rPr sz="1700">
                <a:solidFill>
                  <a:srgbClr val="0F172A"/>
                </a:solidFill>
                <a:latin typeface="Arial"/>
              </a:rPr>
              <a:t>What decision do you support with data?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7C3AED"/>
                </a:solidFill>
                <a:latin typeface="Arial"/>
              </a:rPr>
              <a:t>03  </a:t>
            </a:r>
            <a:r>
              <a:rPr sz="1700">
                <a:solidFill>
                  <a:srgbClr val="0F172A"/>
                </a:solidFill>
                <a:latin typeface="Arial"/>
              </a:rPr>
              <a:t>Your Power BI experience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F59E0B"/>
                </a:solidFill>
                <a:latin typeface="Arial"/>
              </a:rPr>
              <a:t>04  </a:t>
            </a:r>
            <a:r>
              <a:rPr sz="1700">
                <a:solidFill>
                  <a:srgbClr val="0F172A"/>
                </a:solidFill>
                <a:latin typeface="Arial"/>
              </a:rPr>
              <a:t>One outcome you want from the course</a:t>
            </a:r>
          </a:p>
        </p:txBody>
      </p:sp>
    </p:spTree>
  </p:cSld>
  <p:clrMapOvr>
    <a:masterClrMapping/>
  </p:clrMapOvr>
  <p:transition spd="fast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rial"/>
              </a:rPr>
              <a:t>LEARNING AGREEMENT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Ground Rules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53312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353312"/>
            <a:ext cx="82296" cy="20299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6384" y="1664208"/>
            <a:ext cx="502920" cy="50292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78308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609344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Participate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39696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Ask, test and explain your reasoning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353312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1344" y="1353312"/>
            <a:ext cx="82296" cy="202996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37376" y="1664208"/>
            <a:ext cx="502920" cy="50292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178308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14031" y="1609344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Respect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2139696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One conversation; challenge ideas, not people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0352" y="3657600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0352" y="3657600"/>
            <a:ext cx="82296" cy="202996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6384" y="3968496"/>
            <a:ext cx="502920" cy="50292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08736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913632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Focus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443984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Phones silent and confidential data protected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1344" y="3657600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1344" y="3657600"/>
            <a:ext cx="82296" cy="202996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37376" y="3968496"/>
            <a:ext cx="502920" cy="502920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37376" y="408736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4031" y="3913632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Time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4443984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Return promptly; 75% attendance is required</a:t>
            </a:r>
          </a:p>
        </p:txBody>
      </p:sp>
    </p:spTree>
  </p:cSld>
  <p:clrMapOvr>
    <a:masterClrMapping/>
  </p:clrMapOvr>
  <p:transition spd="fast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WSQ ALIGNMENT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Skills Framework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89888"/>
            <a:ext cx="3566160" cy="128016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Oval 9"/>
          <p:cNvSpPr/>
          <p:nvPr/>
        </p:nvSpPr>
        <p:spPr>
          <a:xfrm>
            <a:off x="704088" y="1627632"/>
            <a:ext cx="640080" cy="6400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Data Visualisation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TSC MED-DIT-4006-1.1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" y="4736592"/>
            <a:ext cx="438912" cy="34747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572768" y="4736592"/>
            <a:ext cx="438912" cy="658368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249424" y="4736592"/>
            <a:ext cx="438912" cy="96012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9864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1F6FEB"/>
                </a:solidFill>
                <a:latin typeface="Arial"/>
              </a:rPr>
              <a:t>SIGNAL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3400" y="1389888"/>
            <a:ext cx="3566160" cy="128016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9943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Oval 20"/>
          <p:cNvSpPr/>
          <p:nvPr/>
        </p:nvSpPr>
        <p:spPr>
          <a:xfrm>
            <a:off x="4544568" y="1627632"/>
            <a:ext cx="640080" cy="6400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4456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028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Knowledge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028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K1–K5: tools, methods, dashboards, displays and mapping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36592" y="4736592"/>
            <a:ext cx="438912" cy="34747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13248" y="4736592"/>
            <a:ext cx="438912" cy="65836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089904" y="4736592"/>
            <a:ext cx="438912" cy="96012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3912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10B981"/>
                </a:solidFill>
                <a:latin typeface="Arial"/>
              </a:rPr>
              <a:t>SIGNAL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388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83880" y="1389888"/>
            <a:ext cx="3566160" cy="128016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3991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Oval 31"/>
          <p:cNvSpPr/>
          <p:nvPr/>
        </p:nvSpPr>
        <p:spPr>
          <a:xfrm>
            <a:off x="8385048" y="1627632"/>
            <a:ext cx="640080" cy="64008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8504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3076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Abilities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3076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A1–A6: select, design, build, review and align findings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77072" y="4736592"/>
            <a:ext cx="438912" cy="34747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253728" y="4736592"/>
            <a:ext cx="438912" cy="658368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930384" y="4736592"/>
            <a:ext cx="438912" cy="9601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7960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7C3AED"/>
                </a:solidFill>
                <a:latin typeface="Arial"/>
              </a:rPr>
              <a:t>SIGNAL</a:t>
            </a:r>
          </a:p>
        </p:txBody>
      </p:sp>
    </p:spTree>
  </p:cSld>
  <p:clrMapOvr>
    <a:masterClrMapping/>
  </p:clrMapOvr>
  <p:transition spd="fast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ASSESSMENT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Knowledge and Ability 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53312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353312"/>
            <a:ext cx="82296" cy="20299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6384" y="1664208"/>
            <a:ext cx="502920" cy="50292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78308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609344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K1–K2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39696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Tools, techniques and visual methods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353312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1344" y="1353312"/>
            <a:ext cx="82296" cy="202996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37376" y="1664208"/>
            <a:ext cx="502920" cy="50292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178308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14031" y="1609344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K3–K5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2139696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Dashboards, display features and strategic mapping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0352" y="3657600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0352" y="3657600"/>
            <a:ext cx="82296" cy="202996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6384" y="3968496"/>
            <a:ext cx="502920" cy="50292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08736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913632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A1–A3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443984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Select fit-for-purpose tools, present trends and build dashboards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1344" y="3657600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1344" y="3657600"/>
            <a:ext cx="82296" cy="202996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37376" y="3968496"/>
            <a:ext cx="502920" cy="502920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37376" y="408736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4031" y="3913632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A4–A6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4443984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Review dynamic displays, design UX and align findings with SMEs</a:t>
            </a:r>
          </a:p>
        </p:txBody>
      </p:sp>
    </p:spTree>
  </p:cSld>
  <p:clrMapOvr>
    <a:masterClrMapping/>
  </p:clrMapOvr>
  <p:transition spd="fast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WHAT YOU WILL ACHIEVE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Learning Outcomes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53312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353312"/>
            <a:ext cx="82296" cy="20299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6384" y="1664208"/>
            <a:ext cx="502920" cy="50292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78308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609344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LO1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39696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Perform data transformation techniques using Power BI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353312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1344" y="1353312"/>
            <a:ext cx="82296" cy="202996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37376" y="1664208"/>
            <a:ext cx="502920" cy="50292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178308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14031" y="1609344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LO2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2139696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Create data visualizations that portray patterns, trends and correlations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0352" y="3657600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0352" y="3657600"/>
            <a:ext cx="82296" cy="202996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6384" y="3968496"/>
            <a:ext cx="502920" cy="50292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08736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913632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LO3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443984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Develop dashboards and scorecards for decision monitoring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1344" y="3657600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1344" y="3657600"/>
            <a:ext cx="82296" cy="202996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37376" y="3968496"/>
            <a:ext cx="502920" cy="502920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37376" y="408736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4031" y="3913632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LO4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4443984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Create dynamic and interactive data visualizations</a:t>
            </a:r>
          </a:p>
        </p:txBody>
      </p:sp>
    </p:spTree>
  </p:cSld>
  <p:clrMapOvr>
    <a:masterClrMapping/>
  </p:clrMapOvr>
  <p:transition spd="fast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WHAT YOU WILL ACHIEVE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Learning Outcomes · Model and Analyze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371600"/>
            <a:ext cx="5394960" cy="10972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7C3AED"/>
                </a:solidFill>
                <a:latin typeface="Arial"/>
              </a:rPr>
              <a:t>LO5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Create a data model for strategic visualization and mapping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7" y="4160520"/>
            <a:ext cx="1143000" cy="16459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1247" y="4507992"/>
            <a:ext cx="1965960" cy="16459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855464"/>
            <a:ext cx="2788920" cy="16459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07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7C3AED"/>
                </a:solidFill>
                <a:latin typeface="Arial"/>
              </a:rPr>
              <a:t>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5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45352" y="1371600"/>
            <a:ext cx="5394960" cy="10972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10B981"/>
                </a:solidFill>
                <a:latin typeface="Arial"/>
              </a:rPr>
              <a:t>LO6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Perform data analytics and queries with DAX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56248" y="4160520"/>
            <a:ext cx="114300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56248" y="4507992"/>
            <a:ext cx="196596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56248" y="4855464"/>
            <a:ext cx="278892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222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22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10B981"/>
                </a:solidFill>
                <a:latin typeface="Arial"/>
              </a:rPr>
              <a:t>✓</a:t>
            </a:r>
          </a:p>
        </p:txBody>
      </p:sp>
    </p:spTree>
  </p:cSld>
  <p:clrMapOvr>
    <a:masterClrMapping/>
  </p:clrMapOvr>
  <p:transition spd="fast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TWO-DAY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Course Outline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89888"/>
            <a:ext cx="3566160" cy="128016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Oval 9"/>
          <p:cNvSpPr/>
          <p:nvPr/>
        </p:nvSpPr>
        <p:spPr>
          <a:xfrm>
            <a:off x="704088" y="1627632"/>
            <a:ext cx="640080" cy="6400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Day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Power Query · visuals · reports · dashboards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" y="4736592"/>
            <a:ext cx="438912" cy="34747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572768" y="4736592"/>
            <a:ext cx="438912" cy="658368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249424" y="4736592"/>
            <a:ext cx="438912" cy="96012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9864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1F6FEB"/>
                </a:solidFill>
                <a:latin typeface="Arial"/>
              </a:rPr>
              <a:t>SIGNAL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3400" y="1389888"/>
            <a:ext cx="3566160" cy="128016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9943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Oval 20"/>
          <p:cNvSpPr/>
          <p:nvPr/>
        </p:nvSpPr>
        <p:spPr>
          <a:xfrm>
            <a:off x="4544568" y="1627632"/>
            <a:ext cx="640080" cy="6400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4456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028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Day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028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Interactions · modeling · DAX · capstone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36592" y="4736592"/>
            <a:ext cx="438912" cy="34747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13248" y="4736592"/>
            <a:ext cx="438912" cy="65836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089904" y="4736592"/>
            <a:ext cx="438912" cy="96012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3912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10B981"/>
                </a:solidFill>
                <a:latin typeface="Arial"/>
              </a:rPr>
              <a:t>SIGNAL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388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83880" y="1389888"/>
            <a:ext cx="3566160" cy="128016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3991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Oval 31"/>
          <p:cNvSpPr/>
          <p:nvPr/>
        </p:nvSpPr>
        <p:spPr>
          <a:xfrm>
            <a:off x="8385048" y="1627632"/>
            <a:ext cx="640080" cy="64008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8504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3076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Assessment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3076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Written Assessment 60 min · Practical Performance 90 min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77072" y="4736592"/>
            <a:ext cx="438912" cy="34747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253728" y="4736592"/>
            <a:ext cx="438912" cy="658368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930384" y="4736592"/>
            <a:ext cx="438912" cy="9601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7960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7C3AED"/>
                </a:solidFill>
                <a:latin typeface="Arial"/>
              </a:rPr>
              <a:t>SIGNAL</a:t>
            </a:r>
          </a:p>
        </p:txBody>
      </p:sp>
    </p:spTree>
  </p:cSld>
  <p:clrMapOvr>
    <a:masterClrMapping/>
  </p:clrMapOvr>
  <p:transition spd="fast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9:00 AM – 6:00 PM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Lesson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2029967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243584" y="1417320"/>
            <a:ext cx="640080" cy="6400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43584" y="1618488"/>
            <a:ext cx="640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267712"/>
            <a:ext cx="1700784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rial"/>
              </a:rPr>
              <a:t>09:00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971800"/>
            <a:ext cx="1700784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0">
                <a:solidFill>
                  <a:srgbClr val="334155"/>
                </a:solidFill>
                <a:latin typeface="Arial"/>
              </a:rPr>
              <a:t>Admin + outcomes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78608" y="3337560"/>
            <a:ext cx="228600" cy="0"/>
          </a:xfrm>
          <a:prstGeom prst="line">
            <a:avLst/>
          </a:prstGeom>
          <a:ln w="19050">
            <a:solidFill>
              <a:srgbClr val="64748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07208" y="1828800"/>
            <a:ext cx="2029967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02151" y="1417320"/>
            <a:ext cx="640080" cy="6400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02151" y="1618488"/>
            <a:ext cx="640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2267712"/>
            <a:ext cx="1700784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rial"/>
              </a:rPr>
              <a:t>Morning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71800" y="2971800"/>
            <a:ext cx="1700784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0">
                <a:solidFill>
                  <a:srgbClr val="334155"/>
                </a:solidFill>
                <a:latin typeface="Arial"/>
              </a:rPr>
              <a:t>Concepts + labs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837175" y="3337560"/>
            <a:ext cx="228600" cy="0"/>
          </a:xfrm>
          <a:prstGeom prst="line">
            <a:avLst/>
          </a:prstGeom>
          <a:ln w="19050">
            <a:solidFill>
              <a:srgbClr val="64748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065775" y="1828800"/>
            <a:ext cx="2029967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60719" y="1417320"/>
            <a:ext cx="640080" cy="64008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0719" y="1618488"/>
            <a:ext cx="640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30367" y="2267712"/>
            <a:ext cx="1700784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rial"/>
              </a:rPr>
              <a:t>12:45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7" y="2971800"/>
            <a:ext cx="1700784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0">
                <a:solidFill>
                  <a:srgbClr val="334155"/>
                </a:solidFill>
                <a:latin typeface="Arial"/>
              </a:rPr>
              <a:t>Lunch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95743" y="3337560"/>
            <a:ext cx="228600" cy="0"/>
          </a:xfrm>
          <a:prstGeom prst="line">
            <a:avLst/>
          </a:prstGeom>
          <a:ln w="19050">
            <a:solidFill>
              <a:srgbClr val="64748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4344" y="1828800"/>
            <a:ext cx="2029967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19288" y="1417320"/>
            <a:ext cx="640080" cy="640080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19288" y="1618488"/>
            <a:ext cx="640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88936" y="2267712"/>
            <a:ext cx="1700784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rial"/>
              </a:rPr>
              <a:t>Afternoon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88936" y="2971800"/>
            <a:ext cx="1700784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0">
                <a:solidFill>
                  <a:srgbClr val="334155"/>
                </a:solidFill>
                <a:latin typeface="Arial"/>
              </a:rPr>
              <a:t>Applied build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354312" y="3337560"/>
            <a:ext cx="228600" cy="0"/>
          </a:xfrm>
          <a:prstGeom prst="line">
            <a:avLst/>
          </a:prstGeom>
          <a:ln w="19050">
            <a:solidFill>
              <a:srgbClr val="64748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582911" y="1828800"/>
            <a:ext cx="2029967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277855" y="1417320"/>
            <a:ext cx="640080" cy="6400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77855" y="1618488"/>
            <a:ext cx="640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47503" y="2267712"/>
            <a:ext cx="1700784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rial"/>
              </a:rPr>
              <a:t>Final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47503" y="2971800"/>
            <a:ext cx="1700784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0">
                <a:solidFill>
                  <a:srgbClr val="334155"/>
                </a:solidFill>
                <a:latin typeface="Arial"/>
              </a:rPr>
              <a:t>Assessment on Day 2</a:t>
            </a:r>
          </a:p>
        </p:txBody>
      </p:sp>
    </p:spTree>
  </p:cSld>
  <p:clrMapOvr>
    <a:masterClrMapping/>
  </p:clrMapOvr>
  <p:transition spd="fast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rial"/>
              </a:rPr>
              <a:t>BEFORE THE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Briefing for Assessment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11137392" cy="4864608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609344"/>
            <a:ext cx="1037844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01  </a:t>
            </a:r>
            <a:r>
              <a:rPr sz="1700">
                <a:solidFill>
                  <a:srgbClr val="0F172A"/>
                </a:solidFill>
                <a:latin typeface="Arial"/>
              </a:rPr>
              <a:t>Individual work; no discussion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02  </a:t>
            </a:r>
            <a:r>
              <a:rPr sz="1700">
                <a:solidFill>
                  <a:srgbClr val="0F172A"/>
                </a:solidFill>
                <a:latin typeface="Arial"/>
              </a:rPr>
              <a:t>Open book: slides, Learner Guide and approved materials only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7C3AED"/>
                </a:solidFill>
                <a:latin typeface="Arial"/>
              </a:rPr>
              <a:t>03  </a:t>
            </a:r>
            <a:r>
              <a:rPr sz="1700">
                <a:solidFill>
                  <a:srgbClr val="0F172A"/>
                </a:solidFill>
                <a:latin typeface="Arial"/>
              </a:rPr>
              <a:t>Phones and other materials under the table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F59E0B"/>
                </a:solidFill>
                <a:latin typeface="Arial"/>
              </a:rPr>
              <a:t>04  </a:t>
            </a:r>
            <a:r>
              <a:rPr sz="1700">
                <a:solidFill>
                  <a:srgbClr val="0F172A"/>
                </a:solidFill>
                <a:latin typeface="Arial"/>
              </a:rPr>
              <a:t>Use your own words and retain required evidence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05  </a:t>
            </a:r>
            <a:r>
              <a:rPr sz="1700">
                <a:solidFill>
                  <a:srgbClr val="0F172A"/>
                </a:solidFill>
                <a:latin typeface="Arial"/>
              </a:rPr>
              <a:t>Submit on the LMS and follow the appeal/reassessment process</a:t>
            </a:r>
          </a:p>
        </p:txBody>
      </p:sp>
    </p:spTree>
  </p:cSld>
  <p:clrMapOvr>
    <a:masterClrMapping/>
  </p:clrMapOvr>
  <p:transition spd="fast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DC2626"/>
                </a:solidFill>
                <a:latin typeface="Arial"/>
              </a:rPr>
              <a:t>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Assessment and Funding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89888"/>
            <a:ext cx="3566160" cy="128016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Oval 9"/>
          <p:cNvSpPr/>
          <p:nvPr/>
        </p:nvSpPr>
        <p:spPr>
          <a:xfrm>
            <a:off x="704088" y="1627632"/>
            <a:ext cx="640080" cy="6400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Written Assessment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5 open-ended questions · K1–K5 · 60 min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" y="4736592"/>
            <a:ext cx="438912" cy="34747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572768" y="4736592"/>
            <a:ext cx="438912" cy="658368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249424" y="4736592"/>
            <a:ext cx="438912" cy="96012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9864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1F6FEB"/>
                </a:solidFill>
                <a:latin typeface="Arial"/>
              </a:rPr>
              <a:t>SIGNAL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3400" y="1389888"/>
            <a:ext cx="3566160" cy="128016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9943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Oval 20"/>
          <p:cNvSpPr/>
          <p:nvPr/>
        </p:nvSpPr>
        <p:spPr>
          <a:xfrm>
            <a:off x="4544568" y="1627632"/>
            <a:ext cx="640080" cy="6400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4456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028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Practical Performance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028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5 applied tasks · A1–A6 · 90 min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36592" y="4736592"/>
            <a:ext cx="438912" cy="34747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13248" y="4736592"/>
            <a:ext cx="438912" cy="65836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089904" y="4736592"/>
            <a:ext cx="438912" cy="96012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3912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10B981"/>
                </a:solidFill>
                <a:latin typeface="Arial"/>
              </a:rPr>
              <a:t>SIGNAL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388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83880" y="1389888"/>
            <a:ext cx="3566160" cy="128016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3991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Oval 31"/>
          <p:cNvSpPr/>
          <p:nvPr/>
        </p:nvSpPr>
        <p:spPr>
          <a:xfrm>
            <a:off x="8385048" y="1627632"/>
            <a:ext cx="640080" cy="64008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8504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3076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Funding criteria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3076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At least 75% attendance and Competent outcome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77072" y="4736592"/>
            <a:ext cx="438912" cy="34747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253728" y="4736592"/>
            <a:ext cx="438912" cy="658368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930384" y="4736592"/>
            <a:ext cx="438912" cy="9601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7960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7C3AED"/>
                </a:solidFill>
                <a:latin typeface="Arial"/>
              </a:rPr>
              <a:t>SIGNAL</a:t>
            </a:r>
          </a:p>
        </p:txBody>
      </p:sp>
    </p:spTree>
  </p:cSld>
  <p:clrMapOvr>
    <a:masterClrMapping/>
  </p:clrMapOvr>
  <p:transition spd="fast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WA → PP → SUBMISSION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Assessment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2029967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243584" y="1417320"/>
            <a:ext cx="640080" cy="6400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43584" y="1618488"/>
            <a:ext cx="640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267712"/>
            <a:ext cx="1700784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rial"/>
              </a:rPr>
              <a:t>TRAQOM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971800"/>
            <a:ext cx="1700784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0">
                <a:solidFill>
                  <a:srgbClr val="334155"/>
                </a:solidFill>
                <a:latin typeface="Arial"/>
              </a:rPr>
              <a:t>Scan the QR code on the LMS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78608" y="3337560"/>
            <a:ext cx="228600" cy="0"/>
          </a:xfrm>
          <a:prstGeom prst="line">
            <a:avLst/>
          </a:prstGeom>
          <a:ln w="19050">
            <a:solidFill>
              <a:srgbClr val="64748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07208" y="1828800"/>
            <a:ext cx="2029967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02151" y="1417320"/>
            <a:ext cx="640080" cy="6400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02151" y="1618488"/>
            <a:ext cx="640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2267712"/>
            <a:ext cx="1700784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rial"/>
              </a:rPr>
              <a:t>Attendance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71800" y="2971800"/>
            <a:ext cx="1700784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0">
                <a:solidFill>
                  <a:srgbClr val="334155"/>
                </a:solidFill>
                <a:latin typeface="Arial"/>
              </a:rPr>
              <a:t>Complete assessment digital attendance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837175" y="3337560"/>
            <a:ext cx="228600" cy="0"/>
          </a:xfrm>
          <a:prstGeom prst="line">
            <a:avLst/>
          </a:prstGeom>
          <a:ln w="19050">
            <a:solidFill>
              <a:srgbClr val="64748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065775" y="1828800"/>
            <a:ext cx="2029967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60719" y="1417320"/>
            <a:ext cx="640080" cy="64008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0719" y="1618488"/>
            <a:ext cx="640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30367" y="2267712"/>
            <a:ext cx="1700784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rial"/>
              </a:rPr>
              <a:t>Assessment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7" y="2971800"/>
            <a:ext cx="1700784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0">
                <a:solidFill>
                  <a:srgbClr val="334155"/>
                </a:solidFill>
                <a:latin typeface="Arial"/>
              </a:rPr>
              <a:t>Sit WA, then PP; open book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95743" y="3337560"/>
            <a:ext cx="228600" cy="0"/>
          </a:xfrm>
          <a:prstGeom prst="line">
            <a:avLst/>
          </a:prstGeom>
          <a:ln w="19050">
            <a:solidFill>
              <a:srgbClr val="64748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4344" y="1828800"/>
            <a:ext cx="2029967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19288" y="1417320"/>
            <a:ext cx="640080" cy="640080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19288" y="1618488"/>
            <a:ext cx="640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88936" y="2267712"/>
            <a:ext cx="1700784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rial"/>
              </a:rPr>
              <a:t>Submit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88936" y="2971800"/>
            <a:ext cx="1700784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0">
                <a:solidFill>
                  <a:srgbClr val="334155"/>
                </a:solidFill>
                <a:latin typeface="Arial"/>
              </a:rPr>
              <a:t>Upload answers on the LMS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354312" y="3337560"/>
            <a:ext cx="228600" cy="0"/>
          </a:xfrm>
          <a:prstGeom prst="line">
            <a:avLst/>
          </a:prstGeom>
          <a:ln w="19050">
            <a:solidFill>
              <a:srgbClr val="64748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582911" y="1828800"/>
            <a:ext cx="2029967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277855" y="1417320"/>
            <a:ext cx="640080" cy="6400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77855" y="1618488"/>
            <a:ext cx="640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47503" y="2267712"/>
            <a:ext cx="1700784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rial"/>
              </a:rPr>
              <a:t>Sign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47503" y="2971800"/>
            <a:ext cx="1700784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0">
                <a:solidFill>
                  <a:srgbClr val="334155"/>
                </a:solidFill>
                <a:latin typeface="Arial"/>
              </a:rPr>
              <a:t>Complete the Assessment Summary Record</a:t>
            </a:r>
          </a:p>
        </p:txBody>
      </p:sp>
    </p:spTree>
  </p:cSld>
  <p:clrMapOvr>
    <a:masterClrMapping/>
  </p:clrMapOvr>
  <p:transition spd="fast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COURSE ACCESS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Access Course Materials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371600"/>
            <a:ext cx="5394960" cy="10972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10B981"/>
                </a:solidFill>
                <a:latin typeface="Arial"/>
              </a:rPr>
              <a:t>Option A · LMS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Sign in to https://lms-tms.tertiaryinfotech.com/
Open the course record → Courseware → download the current files.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7" y="4160520"/>
            <a:ext cx="114300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1247" y="4507992"/>
            <a:ext cx="196596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855464"/>
            <a:ext cx="278892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07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10B981"/>
                </a:solidFill>
                <a:latin typeface="Arial"/>
              </a:rPr>
              <a:t>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5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45352" y="1371600"/>
            <a:ext cx="5394960" cy="10972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7C3AED"/>
                </a:solidFill>
                <a:latin typeface="Arial"/>
              </a:rPr>
              <a:t>Option B · GitHub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Download ZIP or clone https://github.com/tertiarycourses/TGS-2020505444-Data-Analytics-and-Visualization-with-Power-BI.git
Each lab folder is self-contained.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56248" y="4160520"/>
            <a:ext cx="1143000" cy="16459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56248" y="4507992"/>
            <a:ext cx="1965960" cy="16459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56248" y="4855464"/>
            <a:ext cx="2788920" cy="16459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222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22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7C3AED"/>
                </a:solidFill>
                <a:latin typeface="Arial"/>
              </a:rPr>
              <a:t>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705856"/>
            <a:ext cx="10789920" cy="438912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7824" y="5797296"/>
            <a:ext cx="102870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1F6FEB"/>
                </a:solidFill>
                <a:latin typeface="Arial"/>
                <a:hlinkClick r:id="rId2"/>
              </a:rPr>
              <a:t>https://lms-tms.tertiaryinfotech.com/</a:t>
            </a:r>
            <a:r>
              <a:rPr sz="1000">
                <a:solidFill>
                  <a:srgbClr val="64748B"/>
                </a:solidFill>
                <a:latin typeface="Arial"/>
              </a:rPr>
              <a:t>    ·    </a:t>
            </a:r>
            <a:r>
              <a:rPr sz="1000" b="1">
                <a:solidFill>
                  <a:srgbClr val="10B981"/>
                </a:solidFill>
                <a:latin typeface="Arial"/>
                <a:hlinkClick r:id="rId3"/>
              </a:rPr>
              <a:t>https://github.com/tertiarycourses/TGS-2020505444-Data-Analytics-and-Visualization-with-Power-BI</a:t>
            </a:r>
          </a:p>
        </p:txBody>
      </p:sp>
    </p:spTree>
  </p:cSld>
  <p:clrMapOvr>
    <a:masterClrMapping/>
  </p:clrMapOvr>
  <p:transition spd="fast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828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  <a:latin typeface="Arial"/>
              </a:rPr>
              <a:t>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96528" y="457200"/>
            <a:ext cx="2560320" cy="19202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600" b="1">
                <a:solidFill>
                  <a:srgbClr val="1E293B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38528"/>
            <a:ext cx="9875520" cy="12618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Get Started with Power BI and Power Query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730752"/>
            <a:ext cx="54864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93C5FD"/>
                </a:solidFill>
                <a:latin typeface="Arial"/>
              </a:rPr>
              <a:t>K1 · A1 · LO1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599432"/>
            <a:ext cx="859536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CBD5E1"/>
                </a:solidFill>
                <a:latin typeface="Arial"/>
              </a:rPr>
              <a:t>Concepts on slides · detailed procedures in the Learner Guide and lab folders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  <p:transition spd="fast">
    <p:push dir="l"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From data to action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371600"/>
            <a:ext cx="5394960" cy="10972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7C3AED"/>
                </a:solidFill>
                <a:latin typeface="Arial"/>
              </a:rPr>
              <a:t>Core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Descriptive, diagnostic, predictive, prescriptive and cognitive analytics support different decisions.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7" y="4160520"/>
            <a:ext cx="1143000" cy="16459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1247" y="4507992"/>
            <a:ext cx="1965960" cy="16459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855464"/>
            <a:ext cx="2788920" cy="16459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07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7C3AED"/>
                </a:solidFill>
                <a:latin typeface="Arial"/>
              </a:rPr>
              <a:t>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5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45352" y="1371600"/>
            <a:ext cx="5394960" cy="10972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10B981"/>
                </a:solidFill>
                <a:latin typeface="Arial"/>
              </a:rPr>
              <a:t>Decision lens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Use the idea to support a real stakeholder decision.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56248" y="4160520"/>
            <a:ext cx="114300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56248" y="4507992"/>
            <a:ext cx="196596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56248" y="4855464"/>
            <a:ext cx="278892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222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22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10B981"/>
                </a:solidFill>
                <a:latin typeface="Arial"/>
              </a:rPr>
              <a:t>✓</a:t>
            </a:r>
          </a:p>
        </p:txBody>
      </p:sp>
    </p:spTree>
  </p:cSld>
  <p:clrMapOvr>
    <a:masterClrMapping/>
  </p:clrMapOvr>
  <p:transition spd="fast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TOPIC 1 · CONSOLIDATED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Roles in the data team · The analyst workflow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371600"/>
            <a:ext cx="5394960" cy="10972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10B981"/>
                </a:solidFill>
                <a:latin typeface="Arial"/>
              </a:rPr>
              <a:t>Roles in the data 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Business experts frame the question; analysts transform evidence; engineers govern dependable data flows.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7" y="4160520"/>
            <a:ext cx="114300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1247" y="4507992"/>
            <a:ext cx="196596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855464"/>
            <a:ext cx="278892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07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10B981"/>
                </a:solidFill>
                <a:latin typeface="Arial"/>
              </a:rPr>
              <a:t>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5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45352" y="1371600"/>
            <a:ext cx="5394960" cy="10972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7C3AED"/>
                </a:solidFill>
                <a:latin typeface="Arial"/>
              </a:rPr>
              <a:t>The analyst workflow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Prepare → model → visualize → analyze → publish → monitor; each stage leaves evidence for review.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56248" y="4160520"/>
            <a:ext cx="1143000" cy="16459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56248" y="4507992"/>
            <a:ext cx="1965960" cy="16459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56248" y="4855464"/>
            <a:ext cx="2788920" cy="16459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222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22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7C3AED"/>
                </a:solidFill>
                <a:latin typeface="Arial"/>
              </a:rPr>
              <a:t>✓</a:t>
            </a:r>
          </a:p>
        </p:txBody>
      </p:sp>
    </p:spTree>
  </p:cSld>
  <p:clrMapOvr>
    <a:masterClrMapping/>
  </p:clrMapOvr>
  <p:transition spd="fast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Power BI ecosystem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53312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353312"/>
            <a:ext cx="82296" cy="20299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6384" y="1664208"/>
            <a:ext cx="502920" cy="50292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78308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609344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What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39696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Desktop authors reports and semantic models.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353312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1344" y="1353312"/>
            <a:ext cx="82296" cy="202996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37376" y="1664208"/>
            <a:ext cx="502920" cy="50292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178308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14031" y="1609344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Why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2139696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Service distributes, refreshes, governs and collaborates.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0352" y="3657600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0352" y="3657600"/>
            <a:ext cx="82296" cy="202996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6384" y="3968496"/>
            <a:ext cx="502920" cy="50292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08736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913632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443984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Use a defined metric, source and filter state.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1344" y="3657600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1344" y="3657600"/>
            <a:ext cx="82296" cy="202996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37376" y="3968496"/>
            <a:ext cx="502920" cy="502920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37376" y="408736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4031" y="3913632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Action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4443984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Translate the finding into an owner and next step.</a:t>
            </a:r>
          </a:p>
        </p:txBody>
      </p:sp>
    </p:spTree>
  </p:cSld>
  <p:clrMapOvr>
    <a:masterClrMapping/>
  </p:clrMapOvr>
  <p:transition spd="fast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Dataset, semantic model, report,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89888"/>
            <a:ext cx="3566160" cy="128016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Oval 9"/>
          <p:cNvSpPr/>
          <p:nvPr/>
        </p:nvSpPr>
        <p:spPr>
          <a:xfrm>
            <a:off x="704088" y="1627632"/>
            <a:ext cx="640080" cy="6400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Meaning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Separate reusable data logic from multi-page analysis and single-page monitoring.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" y="4736592"/>
            <a:ext cx="438912" cy="34747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572768" y="4736592"/>
            <a:ext cx="438912" cy="658368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249424" y="4736592"/>
            <a:ext cx="438912" cy="96012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9864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1F6FEB"/>
                </a:solidFill>
                <a:latin typeface="Arial"/>
              </a:rPr>
              <a:t>SIGNAL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3400" y="1389888"/>
            <a:ext cx="3566160" cy="128016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9943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Oval 20"/>
          <p:cNvSpPr/>
          <p:nvPr/>
        </p:nvSpPr>
        <p:spPr>
          <a:xfrm>
            <a:off x="4544568" y="1627632"/>
            <a:ext cx="640080" cy="6400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4456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028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Decision use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028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Use the idea to support a real stakeholder decision.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36592" y="4736592"/>
            <a:ext cx="438912" cy="34747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13248" y="4736592"/>
            <a:ext cx="438912" cy="65836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089904" y="4736592"/>
            <a:ext cx="438912" cy="96012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3912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10B981"/>
                </a:solidFill>
                <a:latin typeface="Arial"/>
              </a:rPr>
              <a:t>SIGNAL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388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83880" y="1389888"/>
            <a:ext cx="3566160" cy="128016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3991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Oval 31"/>
          <p:cNvSpPr/>
          <p:nvPr/>
        </p:nvSpPr>
        <p:spPr>
          <a:xfrm>
            <a:off x="8385048" y="1627632"/>
            <a:ext cx="640080" cy="64008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8504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3076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Quality check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3076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Confirm grain, filter context and whether the display could be misread.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77072" y="4736592"/>
            <a:ext cx="438912" cy="34747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253728" y="4736592"/>
            <a:ext cx="438912" cy="658368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930384" y="4736592"/>
            <a:ext cx="438912" cy="9601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7960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7C3AED"/>
                </a:solidFill>
                <a:latin typeface="Arial"/>
              </a:rPr>
              <a:t>SIGNAL</a:t>
            </a:r>
          </a:p>
        </p:txBody>
      </p:sp>
    </p:spTree>
  </p:cSld>
  <p:clrMapOvr>
    <a:masterClrMapping/>
  </p:clrMapOvr>
  <p:transition spd="fast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rial"/>
              </a:rPr>
              <a:t>WHY IT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Desktop views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444752"/>
            <a:ext cx="11000232" cy="2907792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91640"/>
            <a:ext cx="91440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5000" b="1">
                <a:solidFill>
                  <a:srgbClr val="F59E0B"/>
                </a:solidFill>
                <a:latin typeface="Arial"/>
              </a:rPr>
              <a:t>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" y="1965960"/>
            <a:ext cx="9738360" cy="1417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Report view composes visuals, Data view inspects loaded tables, and Model view manages relationships.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85032"/>
            <a:ext cx="932688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800" b="0">
                <a:solidFill>
                  <a:srgbClr val="E2E8F0"/>
                </a:solidFill>
                <a:latin typeface="Arial"/>
              </a:rPr>
              <a:t>Use the idea to support a real stakeholder decision.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645152"/>
            <a:ext cx="3566160" cy="107899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4855464"/>
            <a:ext cx="9144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rial"/>
              </a:rPr>
              <a:t>QUESTION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28216" y="4800600"/>
            <a:ext cx="2212848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rial"/>
              </a:rPr>
              <a:t>What must be decided?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59" y="4645152"/>
            <a:ext cx="3566160" cy="107899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81727" y="4855464"/>
            <a:ext cx="9144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rial"/>
              </a:rPr>
              <a:t>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50407" y="4800600"/>
            <a:ext cx="2212848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rial"/>
              </a:rPr>
              <a:t>What supports the claim?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02752" y="4645152"/>
            <a:ext cx="3566160" cy="107899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0" y="4855464"/>
            <a:ext cx="9144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rial"/>
              </a:rPr>
              <a:t>ACTION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4800600"/>
            <a:ext cx="2212848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rial"/>
              </a:rPr>
              <a:t>Who acts next?</a:t>
            </a:r>
          </a:p>
        </p:txBody>
      </p:sp>
    </p:spTree>
  </p:cSld>
  <p:clrMapOvr>
    <a:masterClrMapping/>
  </p:clrMapOvr>
  <p:transition spd="fast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CONCEPT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Connection choices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23</a:t>
            </a:r>
          </a:p>
        </p:txBody>
      </p:sp>
      <p:sp>
        <p:nvSpPr>
          <p:cNvPr id="7" name="Oval 6"/>
          <p:cNvSpPr/>
          <p:nvPr/>
        </p:nvSpPr>
        <p:spPr>
          <a:xfrm>
            <a:off x="5029200" y="2542032"/>
            <a:ext cx="2139696" cy="182880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84648" y="3127248"/>
            <a:ext cx="1828800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DECISION
READY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17320"/>
            <a:ext cx="27432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417320"/>
            <a:ext cx="73152" cy="128016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600200"/>
            <a:ext cx="2240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QUESTION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920240"/>
            <a:ext cx="22402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Files, folders, databases, web sources and cloud services differ in refresh, scale and governance.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337560" y="2057400"/>
            <a:ext cx="1691640" cy="1399032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851392" y="1417320"/>
            <a:ext cx="27432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51392" y="1417320"/>
            <a:ext cx="73152" cy="128016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9992" y="1600200"/>
            <a:ext cx="2240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CONTEXT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1920240"/>
            <a:ext cx="22402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Use the idea to support a real stakeholder decision.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7168896" y="2057400"/>
            <a:ext cx="1682496" cy="1399032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94360" y="4160520"/>
            <a:ext cx="27432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4360" y="4160520"/>
            <a:ext cx="73152" cy="128016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343400"/>
            <a:ext cx="2240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663440"/>
            <a:ext cx="22402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Validate grain, filters and definitions.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3337560" y="3456432"/>
            <a:ext cx="1691640" cy="1344168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851392" y="4160520"/>
            <a:ext cx="27432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51392" y="4160520"/>
            <a:ext cx="73152" cy="128016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79992" y="4343400"/>
            <a:ext cx="2240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rial"/>
              </a:rPr>
              <a:t>HANDOFF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9992" y="4663440"/>
            <a:ext cx="22402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State evidence, limitation, owner and next action.</a:t>
            </a:r>
          </a:p>
        </p:txBody>
      </p:sp>
      <p:cxnSp>
        <p:nvCxnSpPr>
          <p:cNvPr id="28" name="Connector 27"/>
          <p:cNvCxnSpPr/>
          <p:nvPr/>
        </p:nvCxnSpPr>
        <p:spPr>
          <a:xfrm flipH="1" flipV="1">
            <a:off x="7168896" y="3456432"/>
            <a:ext cx="1682496" cy="1344168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fast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Import or DirectQuery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53312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353312"/>
            <a:ext cx="82296" cy="20299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6384" y="1664208"/>
            <a:ext cx="502920" cy="50292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78308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609344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What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39696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Import favors speed and modeling freedom.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353312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1344" y="1353312"/>
            <a:ext cx="82296" cy="202996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37376" y="1664208"/>
            <a:ext cx="502920" cy="50292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178308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14031" y="1609344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Why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2139696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DirectQuery favors source currency but adds dependency and latency.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0352" y="3657600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0352" y="3657600"/>
            <a:ext cx="82296" cy="202996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6384" y="3968496"/>
            <a:ext cx="502920" cy="50292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08736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913632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443984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Use a defined metric, source and filter state.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1344" y="3657600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1344" y="3657600"/>
            <a:ext cx="82296" cy="202996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37376" y="3968496"/>
            <a:ext cx="502920" cy="502920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37376" y="408736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4031" y="3913632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Action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4443984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Translate the finding into an owner and next step.</a:t>
            </a:r>
          </a:p>
        </p:txBody>
      </p:sp>
    </p:spTree>
  </p:cSld>
  <p:clrMapOvr>
    <a:masterClrMapping/>
  </p:clrMapOvr>
  <p:transition spd="fast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DECISION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Navigator decisions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25</a:t>
            </a:r>
          </a:p>
        </p:txBody>
      </p:sp>
      <p:sp>
        <p:nvSpPr>
          <p:cNvPr id="7" name="Oval 6"/>
          <p:cNvSpPr/>
          <p:nvPr/>
        </p:nvSpPr>
        <p:spPr>
          <a:xfrm>
            <a:off x="658368" y="1325880"/>
            <a:ext cx="658368" cy="65836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527048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08760" y="1280160"/>
            <a:ext cx="996696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83080" y="1408176"/>
            <a:ext cx="2514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F6FEB"/>
                </a:solidFill>
                <a:latin typeface="Arial"/>
              </a:rPr>
              <a:t>Frame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399032"/>
            <a:ext cx="6812280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Select only required tables and preview structure before loading to reduce noise and model size.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2468880"/>
            <a:ext cx="658368" cy="65836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670048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08760" y="2423160"/>
            <a:ext cx="996696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83080" y="2551176"/>
            <a:ext cx="2514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0B981"/>
                </a:solidFill>
                <a:latin typeface="Arial"/>
              </a:rPr>
              <a:t>Inspect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2542032"/>
            <a:ext cx="6812280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Use the idea to support a real stakeholder decision.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611880"/>
            <a:ext cx="658368" cy="658368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813048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08760" y="3566160"/>
            <a:ext cx="996696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83080" y="3694176"/>
            <a:ext cx="2514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7C3AED"/>
                </a:solidFill>
                <a:latin typeface="Arial"/>
              </a:rPr>
              <a:t>Test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51960" y="3685032"/>
            <a:ext cx="6812280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Check the result under a second filter or scenario.</a:t>
            </a:r>
          </a:p>
        </p:txBody>
      </p:sp>
      <p:sp>
        <p:nvSpPr>
          <p:cNvPr id="22" name="Oval 21"/>
          <p:cNvSpPr/>
          <p:nvPr/>
        </p:nvSpPr>
        <p:spPr>
          <a:xfrm>
            <a:off x="658368" y="4754880"/>
            <a:ext cx="658368" cy="658368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4956048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508760" y="4709160"/>
            <a:ext cx="996696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83080" y="4837176"/>
            <a:ext cx="2514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  <a:latin typeface="Arial"/>
              </a:rPr>
              <a:t>Communicate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51960" y="4828032"/>
            <a:ext cx="6812280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State finding, evidence, limitation and action.</a:t>
            </a:r>
          </a:p>
        </p:txBody>
      </p:sp>
    </p:spTree>
  </p:cSld>
  <p:clrMapOvr>
    <a:masterClrMapping/>
  </p:clrMapOvr>
  <p:transition spd="fast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Power Query Editor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89888"/>
            <a:ext cx="3566160" cy="128016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Oval 9"/>
          <p:cNvSpPr/>
          <p:nvPr/>
        </p:nvSpPr>
        <p:spPr>
          <a:xfrm>
            <a:off x="704088" y="1627632"/>
            <a:ext cx="640080" cy="6400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Meaning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Applied Steps make transformations visible, ordered, repeatable and auditable.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" y="4736592"/>
            <a:ext cx="438912" cy="34747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572768" y="4736592"/>
            <a:ext cx="438912" cy="658368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249424" y="4736592"/>
            <a:ext cx="438912" cy="96012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9864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1F6FEB"/>
                </a:solidFill>
                <a:latin typeface="Arial"/>
              </a:rPr>
              <a:t>SIGNAL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3400" y="1389888"/>
            <a:ext cx="3566160" cy="128016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9943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Oval 20"/>
          <p:cNvSpPr/>
          <p:nvPr/>
        </p:nvSpPr>
        <p:spPr>
          <a:xfrm>
            <a:off x="4544568" y="1627632"/>
            <a:ext cx="640080" cy="6400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4456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028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Decision use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028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Use the idea to support a real stakeholder decision.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36592" y="4736592"/>
            <a:ext cx="438912" cy="34747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13248" y="4736592"/>
            <a:ext cx="438912" cy="65836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089904" y="4736592"/>
            <a:ext cx="438912" cy="96012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3912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10B981"/>
                </a:solidFill>
                <a:latin typeface="Arial"/>
              </a:rPr>
              <a:t>SIGNAL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388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83880" y="1389888"/>
            <a:ext cx="3566160" cy="128016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3991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Oval 31"/>
          <p:cNvSpPr/>
          <p:nvPr/>
        </p:nvSpPr>
        <p:spPr>
          <a:xfrm>
            <a:off x="8385048" y="1627632"/>
            <a:ext cx="640080" cy="64008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8504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3076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Quality check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3076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Confirm grain, filter context and whether the display could be misread.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77072" y="4736592"/>
            <a:ext cx="438912" cy="34747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253728" y="4736592"/>
            <a:ext cx="438912" cy="658368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930384" y="4736592"/>
            <a:ext cx="438912" cy="9601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7960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7C3AED"/>
                </a:solidFill>
                <a:latin typeface="Arial"/>
              </a:rPr>
              <a:t>SIGNAL</a:t>
            </a:r>
          </a:p>
        </p:txBody>
      </p:sp>
    </p:spTree>
  </p:cSld>
  <p:clrMapOvr>
    <a:masterClrMapping/>
  </p:clrMapOvr>
  <p:transition spd="fast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Promote headers and remove rows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371600"/>
            <a:ext cx="5394960" cy="10972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1F6FEB"/>
                </a:solidFill>
                <a:latin typeface="Arial"/>
              </a:rPr>
              <a:t>Core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Fix structural metadata before analytical logic so column names and data boundaries are reliable.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7" y="4160520"/>
            <a:ext cx="1143000" cy="16459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1247" y="4507992"/>
            <a:ext cx="1965960" cy="16459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855464"/>
            <a:ext cx="2788920" cy="16459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07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5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45352" y="1371600"/>
            <a:ext cx="5394960" cy="10972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10B981"/>
                </a:solidFill>
                <a:latin typeface="Arial"/>
              </a:rPr>
              <a:t>Decision lens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Use the idea to support a real stakeholder decision.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56248" y="4160520"/>
            <a:ext cx="114300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56248" y="4507992"/>
            <a:ext cx="196596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56248" y="4855464"/>
            <a:ext cx="278892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222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22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10B981"/>
                </a:solidFill>
                <a:latin typeface="Arial"/>
              </a:rPr>
              <a:t>✓</a:t>
            </a:r>
          </a:p>
        </p:txBody>
      </p:sp>
    </p:spTree>
  </p:cSld>
  <p:clrMapOvr>
    <a:masterClrMapping/>
  </p:clrMapOvr>
  <p:transition spd="fast">
    <p:fade/>
  </p:transition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Choose and rename columns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28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53312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353312"/>
            <a:ext cx="82296" cy="20299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6384" y="1664208"/>
            <a:ext cx="502920" cy="50292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78308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609344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What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39696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Keep only decision-relevant fields and give them business-friendly names.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353312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1344" y="1353312"/>
            <a:ext cx="82296" cy="202996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37376" y="1664208"/>
            <a:ext cx="502920" cy="50292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178308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14031" y="1609344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Why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2139696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Use the idea to support a real stakeholder decision.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0352" y="3657600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0352" y="3657600"/>
            <a:ext cx="82296" cy="202996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6384" y="3968496"/>
            <a:ext cx="502920" cy="50292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08736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913632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443984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Use a defined metric, source and filter state.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1344" y="3657600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1344" y="3657600"/>
            <a:ext cx="82296" cy="202996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37376" y="3968496"/>
            <a:ext cx="502920" cy="502920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37376" y="408736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4031" y="3913632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Action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4443984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Translate the finding into an owner and next step.</a:t>
            </a:r>
          </a:p>
        </p:txBody>
      </p:sp>
    </p:spTree>
  </p:cSld>
  <p:clrMapOvr>
    <a:masterClrMapping/>
  </p:clrMapOvr>
  <p:transition spd="fast">
    <p:fade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Pivot and unpivot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29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371600"/>
            <a:ext cx="5394960" cy="10972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7C3AED"/>
                </a:solidFill>
                <a:latin typeface="Arial"/>
              </a:rPr>
              <a:t>Core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Wide layouts are human-friendly.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7" y="4160520"/>
            <a:ext cx="1143000" cy="16459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1247" y="4507992"/>
            <a:ext cx="1965960" cy="16459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855464"/>
            <a:ext cx="2788920" cy="16459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07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7C3AED"/>
                </a:solidFill>
                <a:latin typeface="Arial"/>
              </a:rPr>
              <a:t>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5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45352" y="1371600"/>
            <a:ext cx="5394960" cy="10972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10B981"/>
                </a:solidFill>
                <a:latin typeface="Arial"/>
              </a:rPr>
              <a:t>Decision lens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long tidy layouts are usually better for filtering, aggregation and visuals.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56248" y="4160520"/>
            <a:ext cx="114300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56248" y="4507992"/>
            <a:ext cx="196596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56248" y="4855464"/>
            <a:ext cx="278892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222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22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10B981"/>
                </a:solidFill>
                <a:latin typeface="Arial"/>
              </a:rPr>
              <a:t>✓</a:t>
            </a:r>
          </a:p>
        </p:txBody>
      </p:sp>
    </p:spTree>
  </p:cSld>
  <p:clrMapOvr>
    <a:masterClrMapping/>
  </p:clrMapOvr>
  <p:transition spd="fast">
    <p:fade/>
  </p:transition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rial"/>
              </a:rPr>
              <a:t>CONCEPT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Replace values, nulls and errors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30</a:t>
            </a:r>
          </a:p>
        </p:txBody>
      </p:sp>
      <p:sp>
        <p:nvSpPr>
          <p:cNvPr id="7" name="Oval 6"/>
          <p:cNvSpPr/>
          <p:nvPr/>
        </p:nvSpPr>
        <p:spPr>
          <a:xfrm>
            <a:off x="5029200" y="2542032"/>
            <a:ext cx="2139696" cy="1828800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84648" y="3127248"/>
            <a:ext cx="1828800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DECISION
READY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17320"/>
            <a:ext cx="27432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417320"/>
            <a:ext cx="73152" cy="128016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600200"/>
            <a:ext cx="2240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QUESTION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920240"/>
            <a:ext cx="22402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Differentiate genuine zero, missing, not applicable and invalid data before replacement.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337560" y="2057400"/>
            <a:ext cx="1691640" cy="1399032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851392" y="1417320"/>
            <a:ext cx="27432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51392" y="1417320"/>
            <a:ext cx="73152" cy="128016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9992" y="1600200"/>
            <a:ext cx="2240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CONTEXT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1920240"/>
            <a:ext cx="22402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Use the idea to support a real stakeholder decision.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7168896" y="2057400"/>
            <a:ext cx="1682496" cy="1399032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94360" y="4160520"/>
            <a:ext cx="27432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4360" y="4160520"/>
            <a:ext cx="73152" cy="128016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343400"/>
            <a:ext cx="2240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663440"/>
            <a:ext cx="22402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Validate grain, filters and definitions.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3337560" y="3456432"/>
            <a:ext cx="1691640" cy="1344168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851392" y="4160520"/>
            <a:ext cx="27432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51392" y="4160520"/>
            <a:ext cx="73152" cy="128016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79992" y="4343400"/>
            <a:ext cx="2240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rial"/>
              </a:rPr>
              <a:t>HANDOFF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9992" y="4663440"/>
            <a:ext cx="22402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State evidence, limitation, owner and next action.</a:t>
            </a:r>
          </a:p>
        </p:txBody>
      </p:sp>
      <p:cxnSp>
        <p:nvCxnSpPr>
          <p:cNvPr id="28" name="Connector 27"/>
          <p:cNvCxnSpPr/>
          <p:nvPr/>
        </p:nvCxnSpPr>
        <p:spPr>
          <a:xfrm flipH="1" flipV="1">
            <a:off x="7168896" y="3456432"/>
            <a:ext cx="1682496" cy="1344168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fast">
    <p:fade/>
  </p:transition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Remove duplicates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31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89888"/>
            <a:ext cx="3566160" cy="128016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Oval 9"/>
          <p:cNvSpPr/>
          <p:nvPr/>
        </p:nvSpPr>
        <p:spPr>
          <a:xfrm>
            <a:off x="704088" y="1627632"/>
            <a:ext cx="640080" cy="6400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Meaning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Define the business key before deduplication.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" y="4736592"/>
            <a:ext cx="438912" cy="34747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572768" y="4736592"/>
            <a:ext cx="438912" cy="658368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249424" y="4736592"/>
            <a:ext cx="438912" cy="96012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9864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1F6FEB"/>
                </a:solidFill>
                <a:latin typeface="Arial"/>
              </a:rPr>
              <a:t>SIGNAL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3400" y="1389888"/>
            <a:ext cx="3566160" cy="128016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9943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Oval 20"/>
          <p:cNvSpPr/>
          <p:nvPr/>
        </p:nvSpPr>
        <p:spPr>
          <a:xfrm>
            <a:off x="4544568" y="1627632"/>
            <a:ext cx="640080" cy="6400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4456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028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Decision use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028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repeated rows are not always duplicates.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36592" y="4736592"/>
            <a:ext cx="438912" cy="34747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13248" y="4736592"/>
            <a:ext cx="438912" cy="65836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089904" y="4736592"/>
            <a:ext cx="438912" cy="96012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3912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10B981"/>
                </a:solidFill>
                <a:latin typeface="Arial"/>
              </a:rPr>
              <a:t>SIGNAL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388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83880" y="1389888"/>
            <a:ext cx="3566160" cy="128016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3991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Oval 31"/>
          <p:cNvSpPr/>
          <p:nvPr/>
        </p:nvSpPr>
        <p:spPr>
          <a:xfrm>
            <a:off x="8385048" y="1627632"/>
            <a:ext cx="640080" cy="64008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8504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3076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Quality check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3076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Confirm grain, filter context and whether the display could be misread.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77072" y="4736592"/>
            <a:ext cx="438912" cy="34747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253728" y="4736592"/>
            <a:ext cx="438912" cy="658368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930384" y="4736592"/>
            <a:ext cx="438912" cy="9601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7960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7C3AED"/>
                </a:solidFill>
                <a:latin typeface="Arial"/>
              </a:rPr>
              <a:t>SIGNAL</a:t>
            </a:r>
          </a:p>
        </p:txBody>
      </p:sp>
    </p:spTree>
  </p:cSld>
  <p:clrMapOvr>
    <a:masterClrMapping/>
  </p:clrMapOvr>
  <p:transition spd="fast">
    <p:fade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Data types and locale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32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53312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353312"/>
            <a:ext cx="82296" cy="20299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6384" y="1664208"/>
            <a:ext cx="502920" cy="50292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78308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609344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What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39696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Types determine aggregation and date behavior.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353312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1344" y="1353312"/>
            <a:ext cx="82296" cy="202996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37376" y="1664208"/>
            <a:ext cx="502920" cy="50292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178308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14031" y="1609344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Why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2139696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locale determines how text values are interpreted.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0352" y="3657600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0352" y="3657600"/>
            <a:ext cx="82296" cy="202996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6384" y="3968496"/>
            <a:ext cx="502920" cy="50292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08736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913632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443984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Use a defined metric, source and filter state.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1344" y="3657600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1344" y="3657600"/>
            <a:ext cx="82296" cy="202996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37376" y="3968496"/>
            <a:ext cx="502920" cy="502920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37376" y="408736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4031" y="3913632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Action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4443984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Translate the finding into an owner and next step.</a:t>
            </a:r>
          </a:p>
        </p:txBody>
      </p:sp>
    </p:spTree>
  </p:cSld>
  <p:clrMapOvr>
    <a:masterClrMapping/>
  </p:clrMapOvr>
  <p:transition spd="fast">
    <p:fade/>
  </p:transition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Append queries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33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371600"/>
            <a:ext cx="5394960" cy="10972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7C3AED"/>
                </a:solidFill>
                <a:latin typeface="Arial"/>
              </a:rPr>
              <a:t>Core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Stack tables with the same grain and schema, then reconcile before/after row counts.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7" y="4160520"/>
            <a:ext cx="1143000" cy="16459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1247" y="4507992"/>
            <a:ext cx="1965960" cy="16459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855464"/>
            <a:ext cx="2788920" cy="16459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07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7C3AED"/>
                </a:solidFill>
                <a:latin typeface="Arial"/>
              </a:rPr>
              <a:t>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5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45352" y="1371600"/>
            <a:ext cx="5394960" cy="10972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10B981"/>
                </a:solidFill>
                <a:latin typeface="Arial"/>
              </a:rPr>
              <a:t>Decision lens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Use the idea to support a real stakeholder decision.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56248" y="4160520"/>
            <a:ext cx="114300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56248" y="4507992"/>
            <a:ext cx="196596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56248" y="4855464"/>
            <a:ext cx="278892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222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22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10B981"/>
                </a:solidFill>
                <a:latin typeface="Arial"/>
              </a:rPr>
              <a:t>✓</a:t>
            </a:r>
          </a:p>
        </p:txBody>
      </p:sp>
    </p:spTree>
  </p:cSld>
  <p:clrMapOvr>
    <a:masterClrMapping/>
  </p:clrMapOvr>
  <p:transition spd="fast">
    <p:fade/>
  </p:transition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rial"/>
              </a:rPr>
              <a:t>DECISION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Merge queries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34</a:t>
            </a:r>
          </a:p>
        </p:txBody>
      </p:sp>
      <p:sp>
        <p:nvSpPr>
          <p:cNvPr id="7" name="Oval 6"/>
          <p:cNvSpPr/>
          <p:nvPr/>
        </p:nvSpPr>
        <p:spPr>
          <a:xfrm>
            <a:off x="658368" y="1325880"/>
            <a:ext cx="658368" cy="65836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527048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08760" y="1280160"/>
            <a:ext cx="996696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83080" y="1408176"/>
            <a:ext cx="2514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F6FEB"/>
                </a:solidFill>
                <a:latin typeface="Arial"/>
              </a:rPr>
              <a:t>Frame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399032"/>
            <a:ext cx="6812280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Join tables by validated keys.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2468880"/>
            <a:ext cx="658368" cy="65836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670048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08760" y="2423160"/>
            <a:ext cx="996696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83080" y="2551176"/>
            <a:ext cx="2514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0B981"/>
                </a:solidFill>
                <a:latin typeface="Arial"/>
              </a:rPr>
              <a:t>Inspect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2542032"/>
            <a:ext cx="6812280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left outer, inner and full outer joins answer different integrity questions.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611880"/>
            <a:ext cx="658368" cy="658368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813048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08760" y="3566160"/>
            <a:ext cx="996696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83080" y="3694176"/>
            <a:ext cx="2514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7C3AED"/>
                </a:solidFill>
                <a:latin typeface="Arial"/>
              </a:rPr>
              <a:t>Test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51960" y="3685032"/>
            <a:ext cx="6812280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Check the result under a second filter or scenario.</a:t>
            </a:r>
          </a:p>
        </p:txBody>
      </p:sp>
      <p:sp>
        <p:nvSpPr>
          <p:cNvPr id="22" name="Oval 21"/>
          <p:cNvSpPr/>
          <p:nvPr/>
        </p:nvSpPr>
        <p:spPr>
          <a:xfrm>
            <a:off x="658368" y="4754880"/>
            <a:ext cx="658368" cy="658368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4956048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508760" y="4709160"/>
            <a:ext cx="996696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83080" y="4837176"/>
            <a:ext cx="2514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  <a:latin typeface="Arial"/>
              </a:rPr>
              <a:t>Communicate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51960" y="4828032"/>
            <a:ext cx="6812280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State finding, evidence, limitation and action.</a:t>
            </a:r>
          </a:p>
        </p:txBody>
      </p:sp>
    </p:spTree>
  </p:cSld>
  <p:clrMapOvr>
    <a:masterClrMapping/>
  </p:clrMapOvr>
  <p:transition spd="fast">
    <p:fade/>
  </p:transition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Column profiling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35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371600"/>
            <a:ext cx="5394960" cy="10972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1F6FEB"/>
                </a:solidFill>
                <a:latin typeface="Arial"/>
              </a:rPr>
              <a:t>Core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Quality, distribution and profile views surface nulls, errors, outliers and unexpected cardinality.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7" y="4160520"/>
            <a:ext cx="1143000" cy="16459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1247" y="4507992"/>
            <a:ext cx="1965960" cy="16459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855464"/>
            <a:ext cx="2788920" cy="16459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07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5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45352" y="1371600"/>
            <a:ext cx="5394960" cy="10972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10B981"/>
                </a:solidFill>
                <a:latin typeface="Arial"/>
              </a:rPr>
              <a:t>Decision lens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Use the idea to support a real stakeholder decision.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56248" y="4160520"/>
            <a:ext cx="114300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56248" y="4507992"/>
            <a:ext cx="196596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56248" y="4855464"/>
            <a:ext cx="278892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222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22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10B981"/>
                </a:solidFill>
                <a:latin typeface="Arial"/>
              </a:rPr>
              <a:t>✓</a:t>
            </a:r>
          </a:p>
        </p:txBody>
      </p:sp>
    </p:spTree>
  </p:cSld>
  <p:clrMapOvr>
    <a:masterClrMapping/>
  </p:clrMapOvr>
  <p:transition spd="fast">
    <p:fade/>
  </p:transition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M and Advanced Editor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36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89888"/>
            <a:ext cx="3566160" cy="128016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Oval 9"/>
          <p:cNvSpPr/>
          <p:nvPr/>
        </p:nvSpPr>
        <p:spPr>
          <a:xfrm>
            <a:off x="704088" y="1627632"/>
            <a:ext cx="640080" cy="6400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Meaning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Power Query records transformations as 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" y="4736592"/>
            <a:ext cx="438912" cy="34747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572768" y="4736592"/>
            <a:ext cx="438912" cy="658368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249424" y="4736592"/>
            <a:ext cx="438912" cy="96012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9864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1F6FEB"/>
                </a:solidFill>
                <a:latin typeface="Arial"/>
              </a:rPr>
              <a:t>SIGNAL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3400" y="1389888"/>
            <a:ext cx="3566160" cy="128016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9943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Oval 20"/>
          <p:cNvSpPr/>
          <p:nvPr/>
        </p:nvSpPr>
        <p:spPr>
          <a:xfrm>
            <a:off x="4544568" y="1627632"/>
            <a:ext cx="640080" cy="6400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4456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028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Decision use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028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readable steps improve reuse and troubleshooting.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36592" y="4736592"/>
            <a:ext cx="438912" cy="34747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13248" y="4736592"/>
            <a:ext cx="438912" cy="65836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089904" y="4736592"/>
            <a:ext cx="438912" cy="96012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3912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10B981"/>
                </a:solidFill>
                <a:latin typeface="Arial"/>
              </a:rPr>
              <a:t>SIGNAL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388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83880" y="1389888"/>
            <a:ext cx="3566160" cy="128016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3991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Oval 31"/>
          <p:cNvSpPr/>
          <p:nvPr/>
        </p:nvSpPr>
        <p:spPr>
          <a:xfrm>
            <a:off x="8385048" y="1627632"/>
            <a:ext cx="640080" cy="64008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8504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3076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Quality check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3076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Confirm grain, filter context and whether the display could be misread.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77072" y="4736592"/>
            <a:ext cx="438912" cy="34747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253728" y="4736592"/>
            <a:ext cx="438912" cy="658368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930384" y="4736592"/>
            <a:ext cx="438912" cy="9601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7960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7C3AED"/>
                </a:solidFill>
                <a:latin typeface="Arial"/>
              </a:rPr>
              <a:t>SIGNAL</a:t>
            </a:r>
          </a:p>
        </p:txBody>
      </p:sp>
    </p:spTree>
  </p:cSld>
  <p:clrMapOvr>
    <a:masterClrMapping/>
  </p:clrMapOvr>
  <p:transition spd="fast">
    <p:fade/>
  </p:transition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HANDS-ON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Lab 1 · Connect, Inspect and Profile an Excel Dataset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37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25880"/>
            <a:ext cx="2971800" cy="4498848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64208"/>
            <a:ext cx="23774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FOUNDATION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2423160" cy="1280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68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160520"/>
            <a:ext cx="242316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CBD5E1"/>
                </a:solidFill>
                <a:latin typeface="Arial"/>
              </a:rPr>
              <a:t>LO1 · K1 · A1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67328" y="1325880"/>
            <a:ext cx="7754112" cy="1225296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67328" y="1325880"/>
            <a:ext cx="82296" cy="1225296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69080" y="1490472"/>
            <a:ext cx="157276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1481328"/>
            <a:ext cx="5468112" cy="6949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rial"/>
              </a:rPr>
              <a:t>A profiled query with correct headers, types and documented quality issues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67328" y="2825496"/>
            <a:ext cx="7754112" cy="1225296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67328" y="2825496"/>
            <a:ext cx="82296" cy="1225296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9080" y="2990088"/>
            <a:ext cx="157276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FILES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2980944"/>
            <a:ext cx="5468112" cy="6949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rial"/>
              </a:rPr>
              <a:t>Retail_Intake.xlsx · starter.pbix · README.md/PDF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67328" y="4325112"/>
            <a:ext cx="7754112" cy="1225296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767328" y="4325112"/>
            <a:ext cx="82296" cy="1225296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69080" y="4489703"/>
            <a:ext cx="157276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PASS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23560" y="4480559"/>
            <a:ext cx="5468112" cy="6949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rial"/>
              </a:rPr>
              <a:t>All required tables load; column quality is reviewed; no unintended errors remain.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67328" y="5513832"/>
            <a:ext cx="7754112" cy="38404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05072" y="5614416"/>
            <a:ext cx="960120" cy="14630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1F6FEB"/>
                </a:solidFill>
                <a:latin typeface="Arial"/>
              </a:rPr>
              <a:t>PROCEDURE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74920" y="5577840"/>
            <a:ext cx="53949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Arial"/>
              </a:rPr>
              <a:t>Learner Guide + lab README</a:t>
            </a:r>
          </a:p>
        </p:txBody>
      </p:sp>
    </p:spTree>
  </p:cSld>
  <p:clrMapOvr>
    <a:masterClrMapping/>
  </p:clrMapOvr>
  <p:transition spd="fast">
    <p:fade/>
  </p:transition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HANDS-ON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Lab 2 · Clean, Transform, Append and Merge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38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25880"/>
            <a:ext cx="2971800" cy="4498848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64208"/>
            <a:ext cx="23774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FOUNDATION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2423160" cy="1280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68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160520"/>
            <a:ext cx="242316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CBD5E1"/>
                </a:solidFill>
                <a:latin typeface="Arial"/>
              </a:rPr>
              <a:t>LO1 · K1 · A1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67328" y="1325880"/>
            <a:ext cx="7754112" cy="1225296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67328" y="1325880"/>
            <a:ext cx="82296" cy="1225296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69080" y="1490472"/>
            <a:ext cx="157276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1481328"/>
            <a:ext cx="5468112" cy="6949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rial"/>
              </a:rPr>
              <a:t>A repeatable Power Query transformation pipeline with an audit trail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67328" y="2825496"/>
            <a:ext cx="7754112" cy="1225296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67328" y="2825496"/>
            <a:ext cx="82296" cy="1225296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9080" y="2990088"/>
            <a:ext cx="157276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FILES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2980944"/>
            <a:ext cx="5468112" cy="6949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rial"/>
              </a:rPr>
              <a:t>Retail_Quality_Issues.xlsx · starter.pbix · README.md/PDF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67328" y="4325112"/>
            <a:ext cx="7754112" cy="1225296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767328" y="4325112"/>
            <a:ext cx="82296" cy="1225296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69080" y="4489703"/>
            <a:ext cx="157276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PASS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23560" y="4480559"/>
            <a:ext cx="5468112" cy="6949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rial"/>
              </a:rPr>
              <a:t>Headers, types, nulls and duplicates are corrected; append and merge row counts reconcile.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67328" y="5513832"/>
            <a:ext cx="7754112" cy="38404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05072" y="5614416"/>
            <a:ext cx="960120" cy="14630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10B981"/>
                </a:solidFill>
                <a:latin typeface="Arial"/>
              </a:rPr>
              <a:t>PROCEDURE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74920" y="5577840"/>
            <a:ext cx="53949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Arial"/>
              </a:rPr>
              <a:t>Learner Guide + lab README</a:t>
            </a:r>
          </a:p>
        </p:txBody>
      </p:sp>
    </p:spTree>
  </p:cSld>
  <p:clrMapOvr>
    <a:masterClrMapping/>
  </p:clrMapOvr>
  <p:transition spd="fast">
    <p:fade/>
  </p:transition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828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  <a:latin typeface="Arial"/>
              </a:rPr>
              <a:t>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96528" y="457200"/>
            <a:ext cx="2560320" cy="19202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600" b="1">
                <a:solidFill>
                  <a:srgbClr val="1E293B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38528"/>
            <a:ext cx="9875520" cy="12618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Create Data Visualizations and Reports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730752"/>
            <a:ext cx="54864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93C5FD"/>
                </a:solidFill>
                <a:latin typeface="Arial"/>
              </a:rPr>
              <a:t>K2 · A2 · LO2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599432"/>
            <a:ext cx="859536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CBD5E1"/>
                </a:solidFill>
                <a:latin typeface="Arial"/>
              </a:rPr>
              <a:t>Concepts on slides · detailed procedures in the Learner Guide and lab folders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  <p:transition spd="fast">
    <p:push dir="l"/>
  </p:transition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Start with the question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40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371600"/>
            <a:ext cx="5394960" cy="10972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F59E0B"/>
                </a:solidFill>
                <a:latin typeface="Arial"/>
              </a:rPr>
              <a:t>Core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Choose a visual only after naming the comparison, trend, distribution, relationship or composition to reveal.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7" y="4160520"/>
            <a:ext cx="1143000" cy="16459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1247" y="4507992"/>
            <a:ext cx="1965960" cy="16459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855464"/>
            <a:ext cx="2788920" cy="16459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07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59E0B"/>
                </a:solidFill>
                <a:latin typeface="Arial"/>
              </a:rPr>
              <a:t>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5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45352" y="1371600"/>
            <a:ext cx="5394960" cy="10972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10B981"/>
                </a:solidFill>
                <a:latin typeface="Arial"/>
              </a:rPr>
              <a:t>Decision lens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Use the idea to support a real stakeholder decision.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56248" y="4160520"/>
            <a:ext cx="114300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56248" y="4507992"/>
            <a:ext cx="196596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56248" y="4855464"/>
            <a:ext cx="278892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222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22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10B981"/>
                </a:solidFill>
                <a:latin typeface="Arial"/>
              </a:rPr>
              <a:t>✓</a:t>
            </a:r>
          </a:p>
        </p:txBody>
      </p:sp>
    </p:spTree>
  </p:cSld>
  <p:clrMapOvr>
    <a:masterClrMapping/>
  </p:clrMapOvr>
  <p:transition spd="fast">
    <p:fade/>
  </p:transition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EDITABLE POWERPOINT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Column and bar charts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41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371600"/>
          <a:ext cx="7543800" cy="42245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458200" y="1371600"/>
            <a:ext cx="3063240" cy="422452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9952" y="1700784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1F6FEB"/>
                </a:solidFill>
                <a:latin typeface="Arial"/>
              </a:rPr>
              <a:t>WHAT THE DATA SHOWS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59952" y="2176272"/>
            <a:ext cx="2432304" cy="2057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A common baseline and descending order make the ranking immediately comparable.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59952" y="4800600"/>
            <a:ext cx="24231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rial"/>
              </a:rPr>
              <a:t>Chart is native and editable in PowerPoint.</a:t>
            </a:r>
          </a:p>
        </p:txBody>
      </p:sp>
    </p:spTree>
  </p:cSld>
  <p:clrMapOvr>
    <a:masterClrMapping/>
  </p:clrMapOvr>
  <p:transition spd="fast">
    <p:fade/>
  </p:transition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TOPIC 2 · CONSOLIDATED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Line and area charts · Cards, KPIs and gauges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42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371600"/>
            <a:ext cx="5394960" cy="10972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7C3AED"/>
                </a:solidFill>
                <a:latin typeface="Arial"/>
              </a:rPr>
              <a:t>Line and area charts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Use lines for change over ordered time; use area sparingly when magnitude and composition both matter.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7" y="4160520"/>
            <a:ext cx="1143000" cy="16459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1247" y="4507992"/>
            <a:ext cx="1965960" cy="16459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855464"/>
            <a:ext cx="2788920" cy="16459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07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7C3AED"/>
                </a:solidFill>
                <a:latin typeface="Arial"/>
              </a:rPr>
              <a:t>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5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45352" y="1371600"/>
            <a:ext cx="5394960" cy="10972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10B981"/>
                </a:solidFill>
                <a:latin typeface="Arial"/>
              </a:rPr>
              <a:t>Cards, KPIs and gauges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Cards state a value, KPIs add direction and targets, and gauges show progress toward one bounded goal.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56248" y="4160520"/>
            <a:ext cx="114300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56248" y="4507992"/>
            <a:ext cx="196596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56248" y="4855464"/>
            <a:ext cx="278892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222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22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10B981"/>
                </a:solidFill>
                <a:latin typeface="Arial"/>
              </a:rPr>
              <a:t>✓</a:t>
            </a:r>
          </a:p>
        </p:txBody>
      </p:sp>
    </p:spTree>
  </p:cSld>
  <p:clrMapOvr>
    <a:masterClrMapping/>
  </p:clrMapOvr>
  <p:transition spd="fast">
    <p:fade/>
  </p:transition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rial"/>
              </a:rPr>
              <a:t>EDITABLE POWERPOINT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Combo charts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43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371600"/>
          <a:ext cx="7543800" cy="42245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458200" y="1371600"/>
            <a:ext cx="3063240" cy="422452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9952" y="1700784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  <a:latin typeface="Arial"/>
              </a:rPr>
              <a:t>WHAT THE DATA SHOWS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59952" y="2176272"/>
            <a:ext cx="2432304" cy="2057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The editable visual links a measured pattern to a specific review question.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59952" y="4800600"/>
            <a:ext cx="24231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rial"/>
              </a:rPr>
              <a:t>Chart is native and editable in PowerPoint.</a:t>
            </a:r>
          </a:p>
        </p:txBody>
      </p:sp>
    </p:spTree>
  </p:cSld>
  <p:clrMapOvr>
    <a:masterClrMapping/>
  </p:clrMapOvr>
  <p:transition spd="fast">
    <p:fade/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WHY IT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Decomposition tree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44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444752"/>
            <a:ext cx="11000232" cy="2907792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91640"/>
            <a:ext cx="91440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5000" b="1">
                <a:solidFill>
                  <a:srgbClr val="1F6FEB"/>
                </a:solidFill>
                <a:latin typeface="Arial"/>
              </a:rPr>
              <a:t>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" y="1965960"/>
            <a:ext cx="9738360" cy="1417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Let users drill across candidate dimensions to explain a result without predefining one path.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85032"/>
            <a:ext cx="932688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800" b="0">
                <a:solidFill>
                  <a:srgbClr val="E2E8F0"/>
                </a:solidFill>
                <a:latin typeface="Arial"/>
              </a:rPr>
              <a:t>Use the idea to support a real stakeholder decision.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645152"/>
            <a:ext cx="3566160" cy="107899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4855464"/>
            <a:ext cx="9144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QUESTION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28216" y="4800600"/>
            <a:ext cx="2212848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rial"/>
              </a:rPr>
              <a:t>What must be decided?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59" y="4645152"/>
            <a:ext cx="3566160" cy="107899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81727" y="4855464"/>
            <a:ext cx="9144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50407" y="4800600"/>
            <a:ext cx="2212848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rial"/>
              </a:rPr>
              <a:t>What supports the claim?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02752" y="4645152"/>
            <a:ext cx="3566160" cy="107899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0" y="4855464"/>
            <a:ext cx="9144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ACTION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4800600"/>
            <a:ext cx="2212848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rial"/>
              </a:rPr>
              <a:t>Who acts next?</a:t>
            </a:r>
          </a:p>
        </p:txBody>
      </p:sp>
    </p:spTree>
  </p:cSld>
  <p:clrMapOvr>
    <a:masterClrMapping/>
  </p:clrMapOvr>
  <p:transition spd="fast">
    <p:fade/>
  </p:transition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VISUAL SELECTION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Pie, doughnut and funnel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45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66928" y="1417320"/>
          <a:ext cx="3337560" cy="3063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7240" y="4681728"/>
            <a:ext cx="2926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00" b="1">
                <a:solidFill>
                  <a:srgbClr val="1F6FEB"/>
                </a:solidFill>
                <a:latin typeface="Arial"/>
              </a:rPr>
              <a:t>PART TO WHOLE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010912"/>
            <a:ext cx="29260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Arial"/>
              </a:rPr>
              <a:t>Few categories; total = 100%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1481328"/>
            <a:ext cx="3017520" cy="493776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0" y="1636776"/>
            <a:ext cx="3017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Leads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2176272"/>
            <a:ext cx="2377440" cy="493776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2331720"/>
            <a:ext cx="23774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Qualified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0" y="2871216"/>
            <a:ext cx="1737360" cy="493776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3026664"/>
            <a:ext cx="17373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Proposal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74920" y="3566160"/>
            <a:ext cx="1097280" cy="493776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4920" y="3721608"/>
            <a:ext cx="109728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Won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1960" y="4681728"/>
            <a:ext cx="2926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00" b="1">
                <a:solidFill>
                  <a:srgbClr val="10B981"/>
                </a:solidFill>
                <a:latin typeface="Arial"/>
              </a:rPr>
              <a:t>ORDERED STAGES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60" y="5010912"/>
            <a:ext cx="29260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Arial"/>
              </a:rPr>
              <a:t>Show conversion, not categories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18120" y="1417320"/>
            <a:ext cx="3749039" cy="416052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1773936"/>
            <a:ext cx="2651760" cy="210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10B981"/>
                </a:solidFill>
                <a:latin typeface="Arial"/>
              </a:rPr>
              <a:t>USE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2267712"/>
            <a:ext cx="2971800" cy="21945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rial"/>
              </a:rPr>
              <a:t>The whole is meaningful
Categories are few
Stages have a fixed order</a:t>
            </a:r>
          </a:p>
        </p:txBody>
      </p:sp>
    </p:spTree>
  </p:cSld>
  <p:clrMapOvr>
    <a:masterClrMapping/>
  </p:clrMapOvr>
  <p:transition spd="fast">
    <p:fade/>
  </p:transition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Maps and choropleths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46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53312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353312"/>
            <a:ext cx="82296" cy="20299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6384" y="1664208"/>
            <a:ext cx="502920" cy="50292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78308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609344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What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39696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Use symbols for magnitude and filled regions for rates.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353312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1344" y="1353312"/>
            <a:ext cx="82296" cy="202996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37376" y="1664208"/>
            <a:ext cx="502920" cy="50292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178308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14031" y="1609344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Why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2139696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normalize before comparing unequal geographies.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0352" y="3657600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0352" y="3657600"/>
            <a:ext cx="82296" cy="202996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6384" y="3968496"/>
            <a:ext cx="502920" cy="50292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08736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913632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443984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Use a defined metric, source and filter state.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1344" y="3657600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1344" y="3657600"/>
            <a:ext cx="82296" cy="202996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37376" y="3968496"/>
            <a:ext cx="502920" cy="502920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37376" y="408736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4031" y="3913632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Action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4443984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Translate the finding into an owner and next step.</a:t>
            </a:r>
          </a:p>
        </p:txBody>
      </p:sp>
    </p:spTree>
  </p:cSld>
  <p:clrMapOvr>
    <a:masterClrMapping/>
  </p:clrMapOvr>
  <p:transition spd="fast">
    <p:fade/>
  </p:transition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rial"/>
              </a:rPr>
              <a:t>DECISION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Tables and matrices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47</a:t>
            </a:r>
          </a:p>
        </p:txBody>
      </p:sp>
      <p:sp>
        <p:nvSpPr>
          <p:cNvPr id="7" name="Oval 6"/>
          <p:cNvSpPr/>
          <p:nvPr/>
        </p:nvSpPr>
        <p:spPr>
          <a:xfrm>
            <a:off x="658368" y="1325880"/>
            <a:ext cx="658368" cy="65836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527048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08760" y="1280160"/>
            <a:ext cx="996696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83080" y="1408176"/>
            <a:ext cx="2514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F6FEB"/>
                </a:solidFill>
                <a:latin typeface="Arial"/>
              </a:rPr>
              <a:t>Frame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399032"/>
            <a:ext cx="6812280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Tables preserve precise records.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2468880"/>
            <a:ext cx="658368" cy="65836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670048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08760" y="2423160"/>
            <a:ext cx="996696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83080" y="2551176"/>
            <a:ext cx="2514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0B981"/>
                </a:solidFill>
                <a:latin typeface="Arial"/>
              </a:rPr>
              <a:t>Inspect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2542032"/>
            <a:ext cx="6812280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matrices add hierarchy, subtotals and cross-tab analysis.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611880"/>
            <a:ext cx="658368" cy="658368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813048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08760" y="3566160"/>
            <a:ext cx="996696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83080" y="3694176"/>
            <a:ext cx="2514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7C3AED"/>
                </a:solidFill>
                <a:latin typeface="Arial"/>
              </a:rPr>
              <a:t>Test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51960" y="3685032"/>
            <a:ext cx="6812280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Check the result under a second filter or scenario.</a:t>
            </a:r>
          </a:p>
        </p:txBody>
      </p:sp>
      <p:sp>
        <p:nvSpPr>
          <p:cNvPr id="22" name="Oval 21"/>
          <p:cNvSpPr/>
          <p:nvPr/>
        </p:nvSpPr>
        <p:spPr>
          <a:xfrm>
            <a:off x="658368" y="4754880"/>
            <a:ext cx="658368" cy="658368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4956048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508760" y="4709160"/>
            <a:ext cx="996696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83080" y="4837176"/>
            <a:ext cx="2514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  <a:latin typeface="Arial"/>
              </a:rPr>
              <a:t>Communicate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51960" y="4828032"/>
            <a:ext cx="6812280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State finding, evidence, limitation and action.</a:t>
            </a:r>
          </a:p>
        </p:txBody>
      </p:sp>
    </p:spTree>
  </p:cSld>
  <p:clrMapOvr>
    <a:masterClrMapping/>
  </p:clrMapOvr>
  <p:transition spd="fast">
    <p:fade/>
  </p:transition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EDITABLE POWERPOINT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Scatter and bubble charts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48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371600"/>
          <a:ext cx="7543800" cy="42245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458200" y="1371600"/>
            <a:ext cx="3063240" cy="422452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9952" y="1700784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1F6FEB"/>
                </a:solidFill>
                <a:latin typeface="Arial"/>
              </a:rPr>
              <a:t>WHAT THE DATA SHOWS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59952" y="2176272"/>
            <a:ext cx="2432304" cy="2057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Both measures rise together in this sample, but the display supports association—not a causal claim.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59952" y="4800600"/>
            <a:ext cx="24231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rial"/>
              </a:rPr>
              <a:t>Chart is native and editable in PowerPoint.</a:t>
            </a:r>
          </a:p>
        </p:txBody>
      </p:sp>
    </p:spTree>
  </p:cSld>
  <p:clrMapOvr>
    <a:masterClrMapping/>
  </p:clrMapOvr>
  <p:transition spd="fast">
    <p:fade/>
  </p:transition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VISUAL SELECTION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Ribbon, treemap and waterfall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49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71600"/>
            <a:ext cx="356616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673352"/>
            <a:ext cx="30175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RIBBON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05840" y="2395728"/>
            <a:ext cx="2560320" cy="1078992"/>
          </a:xfrm>
          <a:prstGeom prst="line">
            <a:avLst/>
          </a:prstGeom>
          <a:ln w="101600">
            <a:solidFill>
              <a:srgbClr val="1F6F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005840" y="2468880"/>
            <a:ext cx="2560320" cy="548640"/>
          </a:xfrm>
          <a:prstGeom prst="line">
            <a:avLst/>
          </a:prstGeom>
          <a:ln w="10160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05840" y="3657600"/>
            <a:ext cx="2560320" cy="411480"/>
          </a:xfrm>
          <a:prstGeom prst="line">
            <a:avLst/>
          </a:prstGeom>
          <a:ln w="1016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68680" y="4736592"/>
            <a:ext cx="283464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rial"/>
              </a:rPr>
              <a:t>Rank changes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371600"/>
            <a:ext cx="356616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9432" y="1673352"/>
            <a:ext cx="30175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10B981"/>
                </a:solidFill>
                <a:latin typeface="Arial"/>
              </a:rPr>
              <a:t>TREEMAP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0" y="2240280"/>
            <a:ext cx="1600200" cy="19202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28231" y="2240280"/>
            <a:ext cx="1024128" cy="105156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28231" y="3364992"/>
            <a:ext cx="1024128" cy="79552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09160" y="4736592"/>
            <a:ext cx="283464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rial"/>
              </a:rPr>
              <a:t>Hierarchy + area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83880" y="1371600"/>
            <a:ext cx="356616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9912" y="1673352"/>
            <a:ext cx="30175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7C3AED"/>
                </a:solidFill>
                <a:latin typeface="Arial"/>
              </a:rPr>
              <a:t>WATERFALL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22792" y="3429000"/>
            <a:ext cx="512064" cy="91440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336024" y="3209544"/>
            <a:ext cx="512064" cy="56692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049256" y="3063239"/>
            <a:ext cx="512064" cy="71323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762488" y="2788920"/>
            <a:ext cx="512064" cy="493776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49640" y="4736592"/>
            <a:ext cx="283464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rial"/>
              </a:rPr>
              <a:t>Additive bridge</a:t>
            </a:r>
          </a:p>
        </p:txBody>
      </p:sp>
    </p:spTree>
  </p:cSld>
  <p:clrMapOvr>
    <a:masterClrMapping/>
  </p:clrMapOvr>
  <p:transition spd="fast">
    <p:fade/>
  </p:transition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Q&amp;A and smart narratives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50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53312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353312"/>
            <a:ext cx="82296" cy="20299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6384" y="1664208"/>
            <a:ext cx="502920" cy="50292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78308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609344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What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39696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Natural-language and generated summaries accelerate exploration but still require human validation.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353312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1344" y="1353312"/>
            <a:ext cx="82296" cy="202996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37376" y="1664208"/>
            <a:ext cx="502920" cy="50292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178308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14031" y="1609344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Why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2139696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Use the idea to support a real stakeholder decision.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0352" y="3657600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0352" y="3657600"/>
            <a:ext cx="82296" cy="202996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6384" y="3968496"/>
            <a:ext cx="502920" cy="50292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08736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913632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443984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Use a defined metric, source and filter state.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1344" y="3657600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1344" y="3657600"/>
            <a:ext cx="82296" cy="202996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37376" y="3968496"/>
            <a:ext cx="502920" cy="502920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37376" y="408736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4031" y="3913632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Action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4443984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Translate the finding into an owner and next step.</a:t>
            </a:r>
          </a:p>
        </p:txBody>
      </p:sp>
    </p:spTree>
  </p:cSld>
  <p:clrMapOvr>
    <a:masterClrMapping/>
  </p:clrMapOvr>
  <p:transition spd="fast">
    <p:fade/>
  </p:transition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Numeric, grid and performance visuals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51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371600"/>
            <a:ext cx="5394960" cy="10972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F59E0B"/>
                </a:solidFill>
                <a:latin typeface="Arial"/>
              </a:rPr>
              <a:t>Core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Match information density to the decision: glanceable status, precise lookup or target tracking.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7" y="4160520"/>
            <a:ext cx="1143000" cy="16459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1247" y="4507992"/>
            <a:ext cx="1965960" cy="16459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855464"/>
            <a:ext cx="2788920" cy="16459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07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59E0B"/>
                </a:solidFill>
                <a:latin typeface="Arial"/>
              </a:rPr>
              <a:t>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5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45352" y="1371600"/>
            <a:ext cx="5394960" cy="10972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10B981"/>
                </a:solidFill>
                <a:latin typeface="Arial"/>
              </a:rPr>
              <a:t>Decision lens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Use the idea to support a real stakeholder decision.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56248" y="4160520"/>
            <a:ext cx="114300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56248" y="4507992"/>
            <a:ext cx="196596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56248" y="4855464"/>
            <a:ext cx="278892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222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22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10B981"/>
                </a:solidFill>
                <a:latin typeface="Arial"/>
              </a:rPr>
              <a:t>✓</a:t>
            </a:r>
          </a:p>
        </p:txBody>
      </p:sp>
    </p:spTree>
  </p:cSld>
  <p:clrMapOvr>
    <a:masterClrMapping/>
  </p:clrMapOvr>
  <p:transition spd="fast">
    <p:fade/>
  </p:transition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CONCEPT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Change and resize visuals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52</a:t>
            </a:r>
          </a:p>
        </p:txBody>
      </p:sp>
      <p:sp>
        <p:nvSpPr>
          <p:cNvPr id="7" name="Oval 6"/>
          <p:cNvSpPr/>
          <p:nvPr/>
        </p:nvSpPr>
        <p:spPr>
          <a:xfrm>
            <a:off x="5029200" y="2542032"/>
            <a:ext cx="2139696" cy="182880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84648" y="3127248"/>
            <a:ext cx="1828800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DECISION
READY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17320"/>
            <a:ext cx="27432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417320"/>
            <a:ext cx="73152" cy="128016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600200"/>
            <a:ext cx="2240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QUESTION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920240"/>
            <a:ext cx="22402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Changing type can change meaning.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337560" y="2057400"/>
            <a:ext cx="1691640" cy="1399032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851392" y="1417320"/>
            <a:ext cx="27432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51392" y="1417320"/>
            <a:ext cx="73152" cy="128016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9992" y="1600200"/>
            <a:ext cx="2240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CONTEXT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1920240"/>
            <a:ext cx="22402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protect labels, proportions and hierarchy when reflowing a page.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7168896" y="2057400"/>
            <a:ext cx="1682496" cy="1399032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94360" y="4160520"/>
            <a:ext cx="27432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4360" y="4160520"/>
            <a:ext cx="73152" cy="128016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343400"/>
            <a:ext cx="2240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663440"/>
            <a:ext cx="22402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Validate grain, filters and definitions.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3337560" y="3456432"/>
            <a:ext cx="1691640" cy="1344168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851392" y="4160520"/>
            <a:ext cx="27432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51392" y="4160520"/>
            <a:ext cx="73152" cy="128016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79992" y="4343400"/>
            <a:ext cx="2240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rial"/>
              </a:rPr>
              <a:t>HANDOFF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9992" y="4663440"/>
            <a:ext cx="22402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State evidence, limitation, owner and next action.</a:t>
            </a:r>
          </a:p>
        </p:txBody>
      </p:sp>
      <p:cxnSp>
        <p:nvCxnSpPr>
          <p:cNvPr id="28" name="Connector 27"/>
          <p:cNvCxnSpPr/>
          <p:nvPr/>
        </p:nvCxnSpPr>
        <p:spPr>
          <a:xfrm flipH="1" flipV="1">
            <a:off x="7168896" y="3456432"/>
            <a:ext cx="1682496" cy="1344168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fast">
    <p:fade/>
  </p:transition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Format for comprehension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53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89888"/>
            <a:ext cx="3566160" cy="128016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Oval 9"/>
          <p:cNvSpPr/>
          <p:nvPr/>
        </p:nvSpPr>
        <p:spPr>
          <a:xfrm>
            <a:off x="704088" y="1627632"/>
            <a:ext cx="640080" cy="6400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Meaning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Use consistent color roles, restrained emphasis and direct labels to reduce decoding effort.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" y="4736592"/>
            <a:ext cx="438912" cy="34747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572768" y="4736592"/>
            <a:ext cx="438912" cy="658368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249424" y="4736592"/>
            <a:ext cx="438912" cy="96012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9864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1F6FEB"/>
                </a:solidFill>
                <a:latin typeface="Arial"/>
              </a:rPr>
              <a:t>SIGNAL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3400" y="1389888"/>
            <a:ext cx="3566160" cy="128016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9943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Oval 20"/>
          <p:cNvSpPr/>
          <p:nvPr/>
        </p:nvSpPr>
        <p:spPr>
          <a:xfrm>
            <a:off x="4544568" y="1627632"/>
            <a:ext cx="640080" cy="6400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4456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028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Decision use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028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Use the idea to support a real stakeholder decision.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36592" y="4736592"/>
            <a:ext cx="438912" cy="34747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13248" y="4736592"/>
            <a:ext cx="438912" cy="65836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089904" y="4736592"/>
            <a:ext cx="438912" cy="96012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3912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10B981"/>
                </a:solidFill>
                <a:latin typeface="Arial"/>
              </a:rPr>
              <a:t>SIGNAL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388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83880" y="1389888"/>
            <a:ext cx="3566160" cy="128016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3991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Oval 31"/>
          <p:cNvSpPr/>
          <p:nvPr/>
        </p:nvSpPr>
        <p:spPr>
          <a:xfrm>
            <a:off x="8385048" y="1627632"/>
            <a:ext cx="640080" cy="64008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8504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3076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Quality check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3076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Confirm grain, filter context and whether the display could be misread.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77072" y="4736592"/>
            <a:ext cx="438912" cy="34747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253728" y="4736592"/>
            <a:ext cx="438912" cy="658368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930384" y="4736592"/>
            <a:ext cx="438912" cy="9601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7960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7C3AED"/>
                </a:solidFill>
                <a:latin typeface="Arial"/>
              </a:rPr>
              <a:t>SIGNAL</a:t>
            </a:r>
          </a:p>
        </p:txBody>
      </p:sp>
    </p:spTree>
  </p:cSld>
  <p:clrMapOvr>
    <a:masterClrMapping/>
  </p:clrMapOvr>
  <p:transition spd="fast">
    <p:fade/>
  </p:transition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Titles and backgrounds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54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53312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353312"/>
            <a:ext cx="82296" cy="20299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6384" y="1664208"/>
            <a:ext cx="502920" cy="50292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78308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609344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What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39696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Insight titles state the takeaway.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353312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1344" y="1353312"/>
            <a:ext cx="82296" cy="202996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37376" y="1664208"/>
            <a:ext cx="502920" cy="50292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178308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14031" y="1609344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Why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2139696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backgrounds should organize, not decorate.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0352" y="3657600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0352" y="3657600"/>
            <a:ext cx="82296" cy="202996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6384" y="3968496"/>
            <a:ext cx="502920" cy="50292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08736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913632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443984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Use a defined metric, source and filter state.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1344" y="3657600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1344" y="3657600"/>
            <a:ext cx="82296" cy="202996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37376" y="3968496"/>
            <a:ext cx="502920" cy="502920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37376" y="408736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4031" y="3913632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Action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4443984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Translate the finding into an owner and next step.</a:t>
            </a:r>
          </a:p>
        </p:txBody>
      </p:sp>
    </p:spTree>
  </p:cSld>
  <p:clrMapOvr>
    <a:masterClrMapping/>
  </p:clrMapOvr>
  <p:transition spd="fast">
    <p:fade/>
  </p:transition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Tooltips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55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371600"/>
            <a:ext cx="5394960" cy="10972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F59E0B"/>
                </a:solidFill>
                <a:latin typeface="Arial"/>
              </a:rPr>
              <a:t>Core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Use tooltips for supporting context, definitions and secondary measures without crowding the main canvas.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7" y="4160520"/>
            <a:ext cx="1143000" cy="16459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1247" y="4507992"/>
            <a:ext cx="1965960" cy="16459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855464"/>
            <a:ext cx="2788920" cy="16459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07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59E0B"/>
                </a:solidFill>
                <a:latin typeface="Arial"/>
              </a:rPr>
              <a:t>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5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45352" y="1371600"/>
            <a:ext cx="5394960" cy="10972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10B981"/>
                </a:solidFill>
                <a:latin typeface="Arial"/>
              </a:rPr>
              <a:t>Decision lens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Use the idea to support a real stakeholder decision.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56248" y="4160520"/>
            <a:ext cx="114300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56248" y="4507992"/>
            <a:ext cx="196596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56248" y="4855464"/>
            <a:ext cx="278892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222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22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10B981"/>
                </a:solidFill>
                <a:latin typeface="Arial"/>
              </a:rPr>
              <a:t>✓</a:t>
            </a:r>
          </a:p>
        </p:txBody>
      </p:sp>
    </p:spTree>
  </p:cSld>
  <p:clrMapOvr>
    <a:masterClrMapping/>
  </p:clrMapOvr>
  <p:transition spd="fast">
    <p:fade/>
  </p:transition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DECISION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Drill down and expand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56</a:t>
            </a:r>
          </a:p>
        </p:txBody>
      </p:sp>
      <p:sp>
        <p:nvSpPr>
          <p:cNvPr id="7" name="Oval 6"/>
          <p:cNvSpPr/>
          <p:nvPr/>
        </p:nvSpPr>
        <p:spPr>
          <a:xfrm>
            <a:off x="658368" y="1325880"/>
            <a:ext cx="658368" cy="65836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527048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08760" y="1280160"/>
            <a:ext cx="996696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83080" y="1408176"/>
            <a:ext cx="2514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F6FEB"/>
                </a:solidFill>
                <a:latin typeface="Arial"/>
              </a:rPr>
              <a:t>Frame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399032"/>
            <a:ext cx="6812280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Hierarchies support movement between levels.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2468880"/>
            <a:ext cx="658368" cy="65836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670048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08760" y="2423160"/>
            <a:ext cx="996696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83080" y="2551176"/>
            <a:ext cx="2514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0B981"/>
                </a:solidFill>
                <a:latin typeface="Arial"/>
              </a:rPr>
              <a:t>Inspect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2542032"/>
            <a:ext cx="6812280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keep the current level and path visible.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611880"/>
            <a:ext cx="658368" cy="658368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813048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08760" y="3566160"/>
            <a:ext cx="996696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83080" y="3694176"/>
            <a:ext cx="2514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7C3AED"/>
                </a:solidFill>
                <a:latin typeface="Arial"/>
              </a:rPr>
              <a:t>Test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51960" y="3685032"/>
            <a:ext cx="6812280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Check the result under a second filter or scenario.</a:t>
            </a:r>
          </a:p>
        </p:txBody>
      </p:sp>
      <p:sp>
        <p:nvSpPr>
          <p:cNvPr id="22" name="Oval 21"/>
          <p:cNvSpPr/>
          <p:nvPr/>
        </p:nvSpPr>
        <p:spPr>
          <a:xfrm>
            <a:off x="658368" y="4754880"/>
            <a:ext cx="658368" cy="658368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4956048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508760" y="4709160"/>
            <a:ext cx="996696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83080" y="4837176"/>
            <a:ext cx="2514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  <a:latin typeface="Arial"/>
              </a:rPr>
              <a:t>Communicate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51960" y="4828032"/>
            <a:ext cx="6812280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State finding, evidence, limitation and action.</a:t>
            </a:r>
          </a:p>
        </p:txBody>
      </p:sp>
    </p:spTree>
  </p:cSld>
  <p:clrMapOvr>
    <a:masterClrMapping/>
  </p:clrMapOvr>
  <p:transition spd="fast">
    <p:fade/>
  </p:transition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Themes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57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371600"/>
            <a:ext cx="5394960" cy="10972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10B981"/>
                </a:solidFill>
                <a:latin typeface="Arial"/>
              </a:rPr>
              <a:t>Core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A theme standardizes color, type and defaults so reports remain coherent and maintainable.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7" y="4160520"/>
            <a:ext cx="114300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1247" y="4507992"/>
            <a:ext cx="196596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855464"/>
            <a:ext cx="278892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07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10B981"/>
                </a:solidFill>
                <a:latin typeface="Arial"/>
              </a:rPr>
              <a:t>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5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45352" y="1371600"/>
            <a:ext cx="5394960" cy="10972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7C3AED"/>
                </a:solidFill>
                <a:latin typeface="Arial"/>
              </a:rPr>
              <a:t>Decision lens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Use the idea to support a real stakeholder decision.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56248" y="4160520"/>
            <a:ext cx="1143000" cy="16459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56248" y="4507992"/>
            <a:ext cx="1965960" cy="16459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56248" y="4855464"/>
            <a:ext cx="2788920" cy="16459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222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22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7C3AED"/>
                </a:solidFill>
                <a:latin typeface="Arial"/>
              </a:rPr>
              <a:t>✓</a:t>
            </a:r>
          </a:p>
        </p:txBody>
      </p:sp>
    </p:spTree>
  </p:cSld>
  <p:clrMapOvr>
    <a:masterClrMapping/>
  </p:clrMapOvr>
  <p:transition spd="fast">
    <p:fade/>
  </p:transition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Accessibility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58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89888"/>
            <a:ext cx="3566160" cy="128016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Oval 9"/>
          <p:cNvSpPr/>
          <p:nvPr/>
        </p:nvSpPr>
        <p:spPr>
          <a:xfrm>
            <a:off x="704088" y="1627632"/>
            <a:ext cx="640080" cy="6400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Meaning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Reading order, alt text, contrast, keyboard focus and non-color cues make insight available to more users.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" y="4736592"/>
            <a:ext cx="438912" cy="34747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572768" y="4736592"/>
            <a:ext cx="438912" cy="658368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249424" y="4736592"/>
            <a:ext cx="438912" cy="96012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9864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1F6FEB"/>
                </a:solidFill>
                <a:latin typeface="Arial"/>
              </a:rPr>
              <a:t>SIGNAL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3400" y="1389888"/>
            <a:ext cx="3566160" cy="128016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9943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Oval 20"/>
          <p:cNvSpPr/>
          <p:nvPr/>
        </p:nvSpPr>
        <p:spPr>
          <a:xfrm>
            <a:off x="4544568" y="1627632"/>
            <a:ext cx="640080" cy="6400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4456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028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Decision use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028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Use the idea to support a real stakeholder decision.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36592" y="4736592"/>
            <a:ext cx="438912" cy="34747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13248" y="4736592"/>
            <a:ext cx="438912" cy="65836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089904" y="4736592"/>
            <a:ext cx="438912" cy="96012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3912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10B981"/>
                </a:solidFill>
                <a:latin typeface="Arial"/>
              </a:rPr>
              <a:t>SIGNAL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388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83880" y="1389888"/>
            <a:ext cx="3566160" cy="128016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3991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Oval 31"/>
          <p:cNvSpPr/>
          <p:nvPr/>
        </p:nvSpPr>
        <p:spPr>
          <a:xfrm>
            <a:off x="8385048" y="1627632"/>
            <a:ext cx="640080" cy="64008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8504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3076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Quality check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3076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Confirm grain, filter context and whether the display could be misread.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77072" y="4736592"/>
            <a:ext cx="438912" cy="34747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253728" y="4736592"/>
            <a:ext cx="438912" cy="658368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930384" y="4736592"/>
            <a:ext cx="438912" cy="9601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7960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7C3AED"/>
                </a:solidFill>
                <a:latin typeface="Arial"/>
              </a:rPr>
              <a:t>SIGNAL</a:t>
            </a:r>
          </a:p>
        </p:txBody>
      </p:sp>
    </p:spTree>
  </p:cSld>
  <p:clrMapOvr>
    <a:masterClrMapping/>
  </p:clrMapOvr>
  <p:transition spd="fast">
    <p:fade/>
  </p:transition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HANDS-ON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Lab 3 · Choose Visuals for Trends and Correlations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59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25880"/>
            <a:ext cx="2971800" cy="4498848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64208"/>
            <a:ext cx="23774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Arial"/>
              </a:rPr>
              <a:t>INTERMEDIATE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2423160" cy="1280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68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160520"/>
            <a:ext cx="242316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CBD5E1"/>
                </a:solidFill>
                <a:latin typeface="Arial"/>
              </a:rPr>
              <a:t>LO2 · K2 · A2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67328" y="1325880"/>
            <a:ext cx="7754112" cy="1225296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67328" y="1325880"/>
            <a:ext cx="82296" cy="1225296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69080" y="1490472"/>
            <a:ext cx="157276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1481328"/>
            <a:ext cx="5468112" cy="6949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rial"/>
              </a:rPr>
              <a:t>A one-page analytical report using fit-for-purpose native visuals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67328" y="2825496"/>
            <a:ext cx="7754112" cy="1225296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67328" y="2825496"/>
            <a:ext cx="82296" cy="1225296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9080" y="2990088"/>
            <a:ext cx="157276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FILES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2980944"/>
            <a:ext cx="5468112" cy="6949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rial"/>
              </a:rPr>
              <a:t>Sales_Trends.xlsx · starter.pbix · README.md/PDF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67328" y="4325112"/>
            <a:ext cx="7754112" cy="1225296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767328" y="4325112"/>
            <a:ext cx="82296" cy="1225296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69080" y="4489703"/>
            <a:ext cx="157276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PASS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23560" y="4480559"/>
            <a:ext cx="5468112" cy="6949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rial"/>
              </a:rPr>
              <a:t>Each visual answers a stated question; encodings are accurate; titles express insight.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67328" y="5513832"/>
            <a:ext cx="7754112" cy="38404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05072" y="5614416"/>
            <a:ext cx="960120" cy="14630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7C3AED"/>
                </a:solidFill>
                <a:latin typeface="Arial"/>
              </a:rPr>
              <a:t>PROCEDURE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74920" y="5577840"/>
            <a:ext cx="53949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Arial"/>
              </a:rPr>
              <a:t>Learner Guide + lab README</a:t>
            </a:r>
          </a:p>
        </p:txBody>
      </p:sp>
    </p:spTree>
  </p:cSld>
  <p:clrMapOvr>
    <a:masterClrMapping/>
  </p:clrMapOvr>
  <p:transition spd="fast">
    <p:fade/>
  </p:transition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rial"/>
              </a:rPr>
              <a:t>HANDS-ON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Lab 4 · Design an Accessible Report Story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60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25880"/>
            <a:ext cx="2971800" cy="4498848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64208"/>
            <a:ext cx="23774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59E0B"/>
                </a:solidFill>
                <a:latin typeface="Arial"/>
              </a:rPr>
              <a:t>INTERMEDIATE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2423160" cy="1280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68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160520"/>
            <a:ext cx="242316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CBD5E1"/>
                </a:solidFill>
                <a:latin typeface="Arial"/>
              </a:rPr>
              <a:t>LO2 · K2 · A2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67328" y="1325880"/>
            <a:ext cx="7754112" cy="1225296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67328" y="1325880"/>
            <a:ext cx="82296" cy="1225296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69080" y="1490472"/>
            <a:ext cx="157276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1481328"/>
            <a:ext cx="5468112" cy="6949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rial"/>
              </a:rPr>
              <a:t>A polished report page with hierarchy, theme, tooltips and accessible navigation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67328" y="2825496"/>
            <a:ext cx="7754112" cy="1225296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67328" y="2825496"/>
            <a:ext cx="82296" cy="1225296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9080" y="2990088"/>
            <a:ext cx="157276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FILES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2980944"/>
            <a:ext cx="5468112" cy="6949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rial"/>
              </a:rPr>
              <a:t>Customer_Experience.xlsx · starter.pbix · README.md/PDF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67328" y="4325112"/>
            <a:ext cx="7754112" cy="1225296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767328" y="4325112"/>
            <a:ext cx="82296" cy="1225296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69080" y="4489703"/>
            <a:ext cx="157276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PASS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23560" y="4480559"/>
            <a:ext cx="5468112" cy="6949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rial"/>
              </a:rPr>
              <a:t>The page has a clear reading order, consistent formatting, alt text and no misleading scale.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67328" y="5513832"/>
            <a:ext cx="7754112" cy="38404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05072" y="5614416"/>
            <a:ext cx="960120" cy="14630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F59E0B"/>
                </a:solidFill>
                <a:latin typeface="Arial"/>
              </a:rPr>
              <a:t>PROCEDURE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74920" y="5577840"/>
            <a:ext cx="53949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Arial"/>
              </a:rPr>
              <a:t>Learner Guide + lab README</a:t>
            </a:r>
          </a:p>
        </p:txBody>
      </p:sp>
    </p:spTree>
  </p:cSld>
  <p:clrMapOvr>
    <a:masterClrMapping/>
  </p:clrMapOvr>
  <p:transition spd="fast">
    <p:fade/>
  </p:transition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828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  <a:latin typeface="Arial"/>
              </a:rPr>
              <a:t>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96528" y="457200"/>
            <a:ext cx="2560320" cy="19202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600" b="1">
                <a:solidFill>
                  <a:srgbClr val="1E293B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38528"/>
            <a:ext cx="9875520" cy="12618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Develop Dashboards and Scorecards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730752"/>
            <a:ext cx="54864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93C5FD"/>
                </a:solidFill>
                <a:latin typeface="Arial"/>
              </a:rPr>
              <a:t>K3 · A3 · LO3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599432"/>
            <a:ext cx="859536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CBD5E1"/>
                </a:solidFill>
                <a:latin typeface="Arial"/>
              </a:rPr>
              <a:t>Concepts on slides · detailed procedures in the Learner Guide and lab folders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  <p:transition spd="fast">
    <p:push dir="l"/>
  </p:transition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Report versus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62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371600"/>
            <a:ext cx="5394960" cy="10972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1F6FEB"/>
                </a:solidFill>
                <a:latin typeface="Arial"/>
              </a:rPr>
              <a:t>Core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Reports are multi-page interactive analysis.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7" y="4160520"/>
            <a:ext cx="1143000" cy="16459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1247" y="4507992"/>
            <a:ext cx="1965960" cy="16459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855464"/>
            <a:ext cx="2788920" cy="16459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07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5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45352" y="1371600"/>
            <a:ext cx="5394960" cy="10972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10B981"/>
                </a:solidFill>
                <a:latin typeface="Arial"/>
              </a:rPr>
              <a:t>Decision lens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dashboards are one-page monitoring surfaces in Power BI Service.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56248" y="4160520"/>
            <a:ext cx="114300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56248" y="4507992"/>
            <a:ext cx="196596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56248" y="4855464"/>
            <a:ext cx="278892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222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22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10B981"/>
                </a:solidFill>
                <a:latin typeface="Arial"/>
              </a:rPr>
              <a:t>✓</a:t>
            </a:r>
          </a:p>
        </p:txBody>
      </p:sp>
    </p:spTree>
  </p:cSld>
  <p:clrMapOvr>
    <a:masterClrMapping/>
  </p:clrMapOvr>
  <p:transition spd="fast">
    <p:fade/>
  </p:transition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CONCEPT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Dashboard development cycle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63</a:t>
            </a:r>
          </a:p>
        </p:txBody>
      </p:sp>
      <p:sp>
        <p:nvSpPr>
          <p:cNvPr id="7" name="Oval 6"/>
          <p:cNvSpPr/>
          <p:nvPr/>
        </p:nvSpPr>
        <p:spPr>
          <a:xfrm>
            <a:off x="5029200" y="2542032"/>
            <a:ext cx="2139696" cy="182880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84648" y="3127248"/>
            <a:ext cx="1828800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DECISION
READY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17320"/>
            <a:ext cx="27432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417320"/>
            <a:ext cx="73152" cy="128016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600200"/>
            <a:ext cx="2240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QUESTION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920240"/>
            <a:ext cx="22402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Define decisions → select KPIs → design tiles → publish → test → monitor and refine.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337560" y="2057400"/>
            <a:ext cx="1691640" cy="1399032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851392" y="1417320"/>
            <a:ext cx="27432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51392" y="1417320"/>
            <a:ext cx="73152" cy="128016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9992" y="1600200"/>
            <a:ext cx="2240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CONTEXT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1920240"/>
            <a:ext cx="22402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Use the idea to support a real stakeholder decision.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7168896" y="2057400"/>
            <a:ext cx="1682496" cy="1399032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94360" y="4160520"/>
            <a:ext cx="27432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4360" y="4160520"/>
            <a:ext cx="73152" cy="128016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343400"/>
            <a:ext cx="2240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663440"/>
            <a:ext cx="22402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Validate grain, filters and definitions.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3337560" y="3456432"/>
            <a:ext cx="1691640" cy="1344168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851392" y="4160520"/>
            <a:ext cx="27432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51392" y="4160520"/>
            <a:ext cx="73152" cy="128016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79992" y="4343400"/>
            <a:ext cx="2240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rial"/>
              </a:rPr>
              <a:t>HANDOFF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9992" y="4663440"/>
            <a:ext cx="22402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State evidence, limitation, owner and next action.</a:t>
            </a:r>
          </a:p>
        </p:txBody>
      </p:sp>
      <p:cxnSp>
        <p:nvCxnSpPr>
          <p:cNvPr id="28" name="Connector 27"/>
          <p:cNvCxnSpPr/>
          <p:nvPr/>
        </p:nvCxnSpPr>
        <p:spPr>
          <a:xfrm flipH="1" flipV="1">
            <a:off x="7168896" y="3456432"/>
            <a:ext cx="1682496" cy="1344168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fast">
    <p:fade/>
  </p:transition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WHY IT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Pin a visual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64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444752"/>
            <a:ext cx="11000232" cy="2907792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91640"/>
            <a:ext cx="91440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5000" b="1">
                <a:solidFill>
                  <a:srgbClr val="7C3AED"/>
                </a:solidFill>
                <a:latin typeface="Arial"/>
              </a:rPr>
              <a:t>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" y="1965960"/>
            <a:ext cx="9738360" cy="1417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Pinned tiles create a stable monitoring surface while preserving a path back to the source report.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85032"/>
            <a:ext cx="932688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800" b="0">
                <a:solidFill>
                  <a:srgbClr val="E2E8F0"/>
                </a:solidFill>
                <a:latin typeface="Arial"/>
              </a:rPr>
              <a:t>Use the idea to support a real stakeholder decision.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645152"/>
            <a:ext cx="3566160" cy="107899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4855464"/>
            <a:ext cx="9144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QUESTION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28216" y="4800600"/>
            <a:ext cx="2212848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rial"/>
              </a:rPr>
              <a:t>What must be decided?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59" y="4645152"/>
            <a:ext cx="3566160" cy="107899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81727" y="4855464"/>
            <a:ext cx="9144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50407" y="4800600"/>
            <a:ext cx="2212848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rial"/>
              </a:rPr>
              <a:t>What supports the claim?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02752" y="4645152"/>
            <a:ext cx="3566160" cy="107899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0" y="4855464"/>
            <a:ext cx="9144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ACTION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4800600"/>
            <a:ext cx="2212848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rial"/>
              </a:rPr>
              <a:t>Who acts next?</a:t>
            </a:r>
          </a:p>
        </p:txBody>
      </p:sp>
    </p:spTree>
  </p:cSld>
  <p:clrMapOvr>
    <a:masterClrMapping/>
  </p:clrMapOvr>
  <p:transition spd="fast">
    <p:fade/>
  </p:transition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Pin a live page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65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53312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353312"/>
            <a:ext cx="82296" cy="20299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6384" y="1664208"/>
            <a:ext cx="502920" cy="50292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78308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609344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What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39696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A live page retains report interactions.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353312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1344" y="1353312"/>
            <a:ext cx="82296" cy="202996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37376" y="1664208"/>
            <a:ext cx="502920" cy="50292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178308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14031" y="1609344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Why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2139696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use it when monitoring needs more than independent tiles.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0352" y="3657600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0352" y="3657600"/>
            <a:ext cx="82296" cy="202996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6384" y="3968496"/>
            <a:ext cx="502920" cy="50292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08736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913632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443984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Use a defined metric, source and filter state.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1344" y="3657600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1344" y="3657600"/>
            <a:ext cx="82296" cy="202996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37376" y="3968496"/>
            <a:ext cx="502920" cy="502920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37376" y="408736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4031" y="3913632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Action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4443984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Translate the finding into an owner and next step.</a:t>
            </a:r>
          </a:p>
        </p:txBody>
      </p:sp>
    </p:spTree>
  </p:cSld>
  <p:clrMapOvr>
    <a:masterClrMapping/>
  </p:clrMapOvr>
  <p:transition spd="fast">
    <p:fade/>
  </p:transition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Combine multiple reports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66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89888"/>
            <a:ext cx="3566160" cy="128016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Oval 9"/>
          <p:cNvSpPr/>
          <p:nvPr/>
        </p:nvSpPr>
        <p:spPr>
          <a:xfrm>
            <a:off x="704088" y="1627632"/>
            <a:ext cx="640080" cy="6400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Meaning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A dashboard can assemble governed signals from several reports into one executive view.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" y="4736592"/>
            <a:ext cx="438912" cy="34747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572768" y="4736592"/>
            <a:ext cx="438912" cy="658368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249424" y="4736592"/>
            <a:ext cx="438912" cy="96012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9864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1F6FEB"/>
                </a:solidFill>
                <a:latin typeface="Arial"/>
              </a:rPr>
              <a:t>SIGNAL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3400" y="1389888"/>
            <a:ext cx="3566160" cy="128016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9943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Oval 20"/>
          <p:cNvSpPr/>
          <p:nvPr/>
        </p:nvSpPr>
        <p:spPr>
          <a:xfrm>
            <a:off x="4544568" y="1627632"/>
            <a:ext cx="640080" cy="6400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4456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028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Decision use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028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Use the idea to support a real stakeholder decision.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36592" y="4736592"/>
            <a:ext cx="438912" cy="34747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13248" y="4736592"/>
            <a:ext cx="438912" cy="65836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089904" y="4736592"/>
            <a:ext cx="438912" cy="96012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3912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10B981"/>
                </a:solidFill>
                <a:latin typeface="Arial"/>
              </a:rPr>
              <a:t>SIGNAL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388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83880" y="1389888"/>
            <a:ext cx="3566160" cy="128016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3991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Oval 31"/>
          <p:cNvSpPr/>
          <p:nvPr/>
        </p:nvSpPr>
        <p:spPr>
          <a:xfrm>
            <a:off x="8385048" y="1627632"/>
            <a:ext cx="640080" cy="64008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8504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3076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Quality check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3076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Confirm grain, filter context and whether the display could be misread.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77072" y="4736592"/>
            <a:ext cx="438912" cy="34747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253728" y="4736592"/>
            <a:ext cx="438912" cy="658368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930384" y="4736592"/>
            <a:ext cx="438912" cy="9601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7960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7C3AED"/>
                </a:solidFill>
                <a:latin typeface="Arial"/>
              </a:rPr>
              <a:t>SIGNAL</a:t>
            </a:r>
          </a:p>
        </p:txBody>
      </p:sp>
    </p:spTree>
  </p:cSld>
  <p:clrMapOvr>
    <a:masterClrMapping/>
  </p:clrMapOvr>
  <p:transition spd="fast">
    <p:fade/>
  </p:transition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EDITABLE POWERPOINT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Alerts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67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371600"/>
          <a:ext cx="7543800" cy="42245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458200" y="1371600"/>
            <a:ext cx="3063240" cy="422452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9952" y="1700784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10B981"/>
                </a:solidFill>
                <a:latin typeface="Arial"/>
              </a:rPr>
              <a:t>WHAT THE DATA SHOWS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59952" y="2176272"/>
            <a:ext cx="2432304" cy="2057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Revenue and margin need an owner and response; retention is above target.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59952" y="4800600"/>
            <a:ext cx="24231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rial"/>
              </a:rPr>
              <a:t>Chart is native and editable in PowerPoint.</a:t>
            </a:r>
          </a:p>
        </p:txBody>
      </p:sp>
    </p:spTree>
  </p:cSld>
  <p:clrMapOvr>
    <a:masterClrMapping/>
  </p:clrMapOvr>
  <p:transition spd="fast">
    <p:fade/>
  </p:transition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CONCEPT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Ask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68</a:t>
            </a:r>
          </a:p>
        </p:txBody>
      </p:sp>
      <p:sp>
        <p:nvSpPr>
          <p:cNvPr id="7" name="Oval 6"/>
          <p:cNvSpPr/>
          <p:nvPr/>
        </p:nvSpPr>
        <p:spPr>
          <a:xfrm>
            <a:off x="5029200" y="2542032"/>
            <a:ext cx="2139696" cy="182880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84648" y="3127248"/>
            <a:ext cx="1828800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DECISION
READY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17320"/>
            <a:ext cx="27432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417320"/>
            <a:ext cx="73152" cy="128016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600200"/>
            <a:ext cx="2240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QUESTION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920240"/>
            <a:ext cx="22402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Dashboard Q&amp;A supports fast exploration when model names, synonyms and relationships are business-friendly.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337560" y="2057400"/>
            <a:ext cx="1691640" cy="1399032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851392" y="1417320"/>
            <a:ext cx="27432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51392" y="1417320"/>
            <a:ext cx="73152" cy="128016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9992" y="1600200"/>
            <a:ext cx="2240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CONTEXT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1920240"/>
            <a:ext cx="22402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Use the idea to support a real stakeholder decision.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7168896" y="2057400"/>
            <a:ext cx="1682496" cy="1399032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94360" y="4160520"/>
            <a:ext cx="27432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4360" y="4160520"/>
            <a:ext cx="73152" cy="128016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343400"/>
            <a:ext cx="2240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663440"/>
            <a:ext cx="22402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Validate grain, filters and definitions.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3337560" y="3456432"/>
            <a:ext cx="1691640" cy="1344168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851392" y="4160520"/>
            <a:ext cx="27432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51392" y="4160520"/>
            <a:ext cx="73152" cy="128016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79992" y="4343400"/>
            <a:ext cx="2240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rial"/>
              </a:rPr>
              <a:t>HANDOFF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9992" y="4663440"/>
            <a:ext cx="22402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State evidence, limitation, owner and next action.</a:t>
            </a:r>
          </a:p>
        </p:txBody>
      </p:sp>
      <p:cxnSp>
        <p:nvCxnSpPr>
          <p:cNvPr id="28" name="Connector 27"/>
          <p:cNvCxnSpPr/>
          <p:nvPr/>
        </p:nvCxnSpPr>
        <p:spPr>
          <a:xfrm flipH="1" flipV="1">
            <a:off x="7168896" y="3456432"/>
            <a:ext cx="1682496" cy="1344168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fast">
    <p:fade/>
  </p:transition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Quick insights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69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53312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353312"/>
            <a:ext cx="82296" cy="20299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6384" y="1664208"/>
            <a:ext cx="502920" cy="50292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78308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609344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What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39696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Automated patterns are hypotheses to review, not conclusions to accept without context.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353312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1344" y="1353312"/>
            <a:ext cx="82296" cy="202996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37376" y="1664208"/>
            <a:ext cx="502920" cy="50292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178308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14031" y="1609344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Why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2139696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Use the idea to support a real stakeholder decision.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0352" y="3657600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0352" y="3657600"/>
            <a:ext cx="82296" cy="202996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6384" y="3968496"/>
            <a:ext cx="502920" cy="50292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08736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913632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443984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Use a defined metric, source and filter state.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1344" y="3657600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1344" y="3657600"/>
            <a:ext cx="82296" cy="202996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37376" y="3968496"/>
            <a:ext cx="502920" cy="502920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37376" y="408736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4031" y="3913632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Action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4443984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Translate the finding into an owner and next step.</a:t>
            </a:r>
          </a:p>
        </p:txBody>
      </p:sp>
    </p:spTree>
  </p:cSld>
  <p:clrMapOvr>
    <a:masterClrMapping/>
  </p:clrMapOvr>
  <p:transition spd="fast">
    <p:fade/>
  </p:transition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DECISION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Dashboard themes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70</a:t>
            </a:r>
          </a:p>
        </p:txBody>
      </p:sp>
      <p:sp>
        <p:nvSpPr>
          <p:cNvPr id="7" name="Oval 6"/>
          <p:cNvSpPr/>
          <p:nvPr/>
        </p:nvSpPr>
        <p:spPr>
          <a:xfrm>
            <a:off x="658368" y="1325880"/>
            <a:ext cx="658368" cy="65836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527048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08760" y="1280160"/>
            <a:ext cx="996696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83080" y="1408176"/>
            <a:ext cx="2514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F6FEB"/>
                </a:solidFill>
                <a:latin typeface="Arial"/>
              </a:rPr>
              <a:t>Frame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399032"/>
            <a:ext cx="6812280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Consistent themes support recognition across tiles without overwhelming status colors.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2468880"/>
            <a:ext cx="658368" cy="65836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670048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08760" y="2423160"/>
            <a:ext cx="996696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83080" y="2551176"/>
            <a:ext cx="2514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0B981"/>
                </a:solidFill>
                <a:latin typeface="Arial"/>
              </a:rPr>
              <a:t>Inspect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2542032"/>
            <a:ext cx="6812280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Use the idea to support a real stakeholder decision.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611880"/>
            <a:ext cx="658368" cy="658368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813048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08760" y="3566160"/>
            <a:ext cx="996696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83080" y="3694176"/>
            <a:ext cx="2514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7C3AED"/>
                </a:solidFill>
                <a:latin typeface="Arial"/>
              </a:rPr>
              <a:t>Test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51960" y="3685032"/>
            <a:ext cx="6812280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Check the result under a second filter or scenario.</a:t>
            </a:r>
          </a:p>
        </p:txBody>
      </p:sp>
      <p:sp>
        <p:nvSpPr>
          <p:cNvPr id="22" name="Oval 21"/>
          <p:cNvSpPr/>
          <p:nvPr/>
        </p:nvSpPr>
        <p:spPr>
          <a:xfrm>
            <a:off x="658368" y="4754880"/>
            <a:ext cx="658368" cy="658368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4956048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508760" y="4709160"/>
            <a:ext cx="996696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83080" y="4837176"/>
            <a:ext cx="2514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  <a:latin typeface="Arial"/>
              </a:rPr>
              <a:t>Communicate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51960" y="4828032"/>
            <a:ext cx="6812280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State finding, evidence, limitation and action.</a:t>
            </a:r>
          </a:p>
        </p:txBody>
      </p:sp>
    </p:spTree>
  </p:cSld>
  <p:clrMapOvr>
    <a:masterClrMapping/>
  </p:clrMapOvr>
  <p:transition spd="fast">
    <p:fade/>
  </p:transition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Mobile layout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71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89888"/>
            <a:ext cx="3566160" cy="128016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Oval 9"/>
          <p:cNvSpPr/>
          <p:nvPr/>
        </p:nvSpPr>
        <p:spPr>
          <a:xfrm>
            <a:off x="704088" y="1627632"/>
            <a:ext cx="640080" cy="6400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Meaning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Prioritize the few signals and actions needed on a small screen.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" y="4736592"/>
            <a:ext cx="438912" cy="34747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572768" y="4736592"/>
            <a:ext cx="438912" cy="658368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249424" y="4736592"/>
            <a:ext cx="438912" cy="96012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9864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1F6FEB"/>
                </a:solidFill>
                <a:latin typeface="Arial"/>
              </a:rPr>
              <a:t>SIGNAL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3400" y="1389888"/>
            <a:ext cx="3566160" cy="128016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9943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Oval 20"/>
          <p:cNvSpPr/>
          <p:nvPr/>
        </p:nvSpPr>
        <p:spPr>
          <a:xfrm>
            <a:off x="4544568" y="1627632"/>
            <a:ext cx="640080" cy="6400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4456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028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Decision use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028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do not merely shrink desktop design.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36592" y="4736592"/>
            <a:ext cx="438912" cy="34747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13248" y="4736592"/>
            <a:ext cx="438912" cy="65836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089904" y="4736592"/>
            <a:ext cx="438912" cy="96012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3912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10B981"/>
                </a:solidFill>
                <a:latin typeface="Arial"/>
              </a:rPr>
              <a:t>SIGNAL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388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83880" y="1389888"/>
            <a:ext cx="3566160" cy="128016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3991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Oval 31"/>
          <p:cNvSpPr/>
          <p:nvPr/>
        </p:nvSpPr>
        <p:spPr>
          <a:xfrm>
            <a:off x="8385048" y="1627632"/>
            <a:ext cx="640080" cy="64008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8504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3076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Quality check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3076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Confirm grain, filter context and whether the display could be misread.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77072" y="4736592"/>
            <a:ext cx="438912" cy="34747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253728" y="4736592"/>
            <a:ext cx="438912" cy="658368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930384" y="4736592"/>
            <a:ext cx="438912" cy="9601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7960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7C3AED"/>
                </a:solidFill>
                <a:latin typeface="Arial"/>
              </a:rPr>
              <a:t>SIGNAL</a:t>
            </a:r>
          </a:p>
        </p:txBody>
      </p:sp>
    </p:spTree>
  </p:cSld>
  <p:clrMapOvr>
    <a:masterClrMapping/>
  </p:clrMapOvr>
  <p:transition spd="fast">
    <p:fade/>
  </p:transition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EDITABLE POWERPOINT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Scorecards and goals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72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371600"/>
          <a:ext cx="7543800" cy="42245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458200" y="1371600"/>
            <a:ext cx="3063240" cy="422452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9952" y="1700784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7C3AED"/>
                </a:solidFill>
                <a:latin typeface="Arial"/>
              </a:rPr>
              <a:t>WHAT THE DATA SHOWS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59952" y="2176272"/>
            <a:ext cx="2432304" cy="2057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Revenue and margin need an owner and response; retention is above target.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59952" y="4800600"/>
            <a:ext cx="24231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rial"/>
              </a:rPr>
              <a:t>Chart is native and editable in PowerPoint.</a:t>
            </a:r>
          </a:p>
        </p:txBody>
      </p:sp>
    </p:spTree>
  </p:cSld>
  <p:clrMapOvr>
    <a:masterClrMapping/>
  </p:clrMapOvr>
  <p:transition spd="fast">
    <p:fade/>
  </p:transition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Workspaces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73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53312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353312"/>
            <a:ext cx="82296" cy="20299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6384" y="1664208"/>
            <a:ext cx="502920" cy="50292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78308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609344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What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39696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Workspaces separate authoring, review and distribution responsibilities.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353312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1344" y="1353312"/>
            <a:ext cx="82296" cy="202996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37376" y="1664208"/>
            <a:ext cx="502920" cy="50292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178308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14031" y="1609344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Why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2139696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Use the idea to support a real stakeholder decision.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0352" y="3657600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0352" y="3657600"/>
            <a:ext cx="82296" cy="202996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6384" y="3968496"/>
            <a:ext cx="502920" cy="50292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08736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913632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443984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Use a defined metric, source and filter state.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1344" y="3657600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1344" y="3657600"/>
            <a:ext cx="82296" cy="202996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37376" y="3968496"/>
            <a:ext cx="502920" cy="502920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37376" y="408736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4031" y="3913632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Action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4443984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Translate the finding into an owner and next step.</a:t>
            </a:r>
          </a:p>
        </p:txBody>
      </p:sp>
    </p:spTree>
  </p:cSld>
  <p:clrMapOvr>
    <a:masterClrMapping/>
  </p:clrMapOvr>
  <p:transition spd="fast">
    <p:fade/>
  </p:transition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Apps and sharing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74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371600"/>
            <a:ext cx="5394960" cy="10972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1F6FEB"/>
                </a:solidFill>
                <a:latin typeface="Arial"/>
              </a:rPr>
              <a:t>Core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Apps package approved content for audiences.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7" y="4160520"/>
            <a:ext cx="1143000" cy="16459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1247" y="4507992"/>
            <a:ext cx="1965960" cy="16459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855464"/>
            <a:ext cx="2788920" cy="16459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07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5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45352" y="1371600"/>
            <a:ext cx="5394960" cy="10972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10B981"/>
                </a:solidFill>
                <a:latin typeface="Arial"/>
              </a:rPr>
              <a:t>Decision lens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direct sharing is narrower and harder to govern at scale.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56248" y="4160520"/>
            <a:ext cx="114300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56248" y="4507992"/>
            <a:ext cx="196596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56248" y="4855464"/>
            <a:ext cx="278892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222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22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10B981"/>
                </a:solidFill>
                <a:latin typeface="Arial"/>
              </a:rPr>
              <a:t>✓</a:t>
            </a:r>
          </a:p>
        </p:txBody>
      </p:sp>
    </p:spTree>
  </p:cSld>
  <p:clrMapOvr>
    <a:masterClrMapping/>
  </p:clrMapOvr>
  <p:transition spd="fast">
    <p:fade/>
  </p:transition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EDITABLE POWERPOINT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Refresh and gateways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75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371600"/>
          <a:ext cx="7543800" cy="42245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458200" y="1371600"/>
            <a:ext cx="3063240" cy="422452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9952" y="1700784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10B981"/>
                </a:solidFill>
                <a:latin typeface="Arial"/>
              </a:rPr>
              <a:t>WHAT THE DATA SHOWS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59952" y="2176272"/>
            <a:ext cx="2432304" cy="2057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Wednesday exceeded the refresh service level; investigate source availability and gateway health.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59952" y="4800600"/>
            <a:ext cx="24231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rial"/>
              </a:rPr>
              <a:t>Chart is native and editable in PowerPoint.</a:t>
            </a:r>
          </a:p>
        </p:txBody>
      </p:sp>
    </p:spTree>
  </p:cSld>
  <p:clrMapOvr>
    <a:masterClrMapping/>
  </p:clrMapOvr>
  <p:transition spd="fast">
    <p:fade/>
  </p:transition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Dashboard storytelling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76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89888"/>
            <a:ext cx="3566160" cy="128016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Oval 9"/>
          <p:cNvSpPr/>
          <p:nvPr/>
        </p:nvSpPr>
        <p:spPr>
          <a:xfrm>
            <a:off x="704088" y="1627632"/>
            <a:ext cx="640080" cy="6400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Meaning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Arrange tiles from outcome to drivers to exceptions so executives can scan, diagnose and act.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" y="4736592"/>
            <a:ext cx="438912" cy="34747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572768" y="4736592"/>
            <a:ext cx="438912" cy="658368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249424" y="4736592"/>
            <a:ext cx="438912" cy="96012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9864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1F6FEB"/>
                </a:solidFill>
                <a:latin typeface="Arial"/>
              </a:rPr>
              <a:t>SIGNAL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3400" y="1389888"/>
            <a:ext cx="3566160" cy="128016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9943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Oval 20"/>
          <p:cNvSpPr/>
          <p:nvPr/>
        </p:nvSpPr>
        <p:spPr>
          <a:xfrm>
            <a:off x="4544568" y="1627632"/>
            <a:ext cx="640080" cy="6400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4456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028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Decision use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028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Use the idea to support a real stakeholder decision.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36592" y="4736592"/>
            <a:ext cx="438912" cy="34747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13248" y="4736592"/>
            <a:ext cx="438912" cy="65836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089904" y="4736592"/>
            <a:ext cx="438912" cy="96012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3912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10B981"/>
                </a:solidFill>
                <a:latin typeface="Arial"/>
              </a:rPr>
              <a:t>SIGNAL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388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83880" y="1389888"/>
            <a:ext cx="3566160" cy="128016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3991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Oval 31"/>
          <p:cNvSpPr/>
          <p:nvPr/>
        </p:nvSpPr>
        <p:spPr>
          <a:xfrm>
            <a:off x="8385048" y="1627632"/>
            <a:ext cx="640080" cy="64008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8504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3076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Quality check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3076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Confirm grain, filter context and whether the display could be misread.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77072" y="4736592"/>
            <a:ext cx="438912" cy="34747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253728" y="4736592"/>
            <a:ext cx="438912" cy="658368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930384" y="4736592"/>
            <a:ext cx="438912" cy="9601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7960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7C3AED"/>
                </a:solidFill>
                <a:latin typeface="Arial"/>
              </a:rPr>
              <a:t>SIGNAL</a:t>
            </a:r>
          </a:p>
        </p:txBody>
      </p:sp>
    </p:spTree>
  </p:cSld>
  <p:clrMapOvr>
    <a:masterClrMapping/>
  </p:clrMapOvr>
  <p:transition spd="fast">
    <p:fade/>
  </p:transition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Dashboard QA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77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53312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353312"/>
            <a:ext cx="82296" cy="20299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6384" y="1664208"/>
            <a:ext cx="502920" cy="50292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78308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609344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What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39696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Verify current data, tile links, mobile view, ownership, permissions and decision usefulness before release.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353312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1344" y="1353312"/>
            <a:ext cx="82296" cy="202996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37376" y="1664208"/>
            <a:ext cx="502920" cy="50292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178308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14031" y="1609344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Why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2139696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Use the idea to support a real stakeholder decision.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0352" y="3657600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0352" y="3657600"/>
            <a:ext cx="82296" cy="202996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6384" y="3968496"/>
            <a:ext cx="502920" cy="50292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08736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913632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443984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Use a defined metric, source and filter state.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1344" y="3657600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1344" y="3657600"/>
            <a:ext cx="82296" cy="202996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37376" y="3968496"/>
            <a:ext cx="502920" cy="502920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37376" y="408736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4031" y="3913632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Action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4443984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Translate the finding into an owner and next step.</a:t>
            </a:r>
          </a:p>
        </p:txBody>
      </p:sp>
    </p:spTree>
  </p:cSld>
  <p:clrMapOvr>
    <a:masterClrMapping/>
  </p:clrMapOvr>
  <p:transition spd="fast">
    <p:fade/>
  </p:transition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HANDS-ON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Lab 5 · Build an Executive Dashboard and Scorecard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78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25880"/>
            <a:ext cx="2971800" cy="4498848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64208"/>
            <a:ext cx="23774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INTERMEDIATE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2423160" cy="1280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6800" b="1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160520"/>
            <a:ext cx="242316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CBD5E1"/>
                </a:solidFill>
                <a:latin typeface="Arial"/>
              </a:rPr>
              <a:t>LO3 · K3 · A3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67328" y="1325880"/>
            <a:ext cx="7754112" cy="1225296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67328" y="1325880"/>
            <a:ext cx="82296" cy="1225296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69080" y="1490472"/>
            <a:ext cx="157276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1481328"/>
            <a:ext cx="5468112" cy="6949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rial"/>
              </a:rPr>
              <a:t>A Sales Monitoring dashboard and KPI scorecard in Power BI Service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67328" y="2825496"/>
            <a:ext cx="7754112" cy="1225296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67328" y="2825496"/>
            <a:ext cx="82296" cy="1225296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9080" y="2990088"/>
            <a:ext cx="157276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FILES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2980944"/>
            <a:ext cx="5468112" cy="6949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rial"/>
              </a:rPr>
              <a:t>Executive_KPIs.xlsx · starter.pbix · README.md/PDF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67328" y="4325112"/>
            <a:ext cx="7754112" cy="1225296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767328" y="4325112"/>
            <a:ext cx="82296" cy="1225296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69080" y="4489703"/>
            <a:ext cx="157276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PASS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23560" y="4480559"/>
            <a:ext cx="5468112" cy="6949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rial"/>
              </a:rPr>
              <a:t>Tiles and targets are current, decision-focused and traceable to the report.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67328" y="5513832"/>
            <a:ext cx="7754112" cy="38404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05072" y="5614416"/>
            <a:ext cx="960120" cy="14630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1F6FEB"/>
                </a:solidFill>
                <a:latin typeface="Arial"/>
              </a:rPr>
              <a:t>PROCEDURE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74920" y="5577840"/>
            <a:ext cx="53949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Arial"/>
              </a:rPr>
              <a:t>Learner Guide + lab README</a:t>
            </a:r>
          </a:p>
        </p:txBody>
      </p:sp>
    </p:spTree>
  </p:cSld>
  <p:clrMapOvr>
    <a:masterClrMapping/>
  </p:clrMapOvr>
  <p:transition spd="fast">
    <p:fade/>
  </p:transition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3800" b="1">
                <a:solidFill>
                  <a:srgbClr val="0F172A"/>
                </a:solidFill>
                <a:latin typeface="Arial"/>
              </a:rPr>
              <a:t>End of Day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63240"/>
            <a:ext cx="1033272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800" b="0">
                <a:solidFill>
                  <a:srgbClr val="64748B"/>
                </a:solidFill>
                <a:latin typeface="Arial"/>
              </a:rPr>
              <a:t>Save your working PBIX files and complete the Excel evidence sheets.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  <p:transition spd="fast">
    <p:push dir="l"/>
  </p:transition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828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  <a:latin typeface="Arial"/>
              </a:rPr>
              <a:t>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96528" y="457200"/>
            <a:ext cx="2560320" cy="19202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600" b="1">
                <a:solidFill>
                  <a:srgbClr val="1E293B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38528"/>
            <a:ext cx="9875520" cy="12618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Create Dynamic and Interactive Visualizations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730752"/>
            <a:ext cx="54864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93C5FD"/>
                </a:solidFill>
                <a:latin typeface="Arial"/>
              </a:rPr>
              <a:t>K4 · A4 · LO4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599432"/>
            <a:ext cx="859536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CBD5E1"/>
                </a:solidFill>
                <a:latin typeface="Arial"/>
              </a:rPr>
              <a:t>Concepts on slides · detailed procedures in the Learner Guide and lab folders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  <p:transition spd="fast">
    <p:push dir="l"/>
  </p:transition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Interaction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81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371600"/>
            <a:ext cx="5394960" cy="10972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10B981"/>
                </a:solidFill>
                <a:latin typeface="Arial"/>
              </a:rPr>
              <a:t>Core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Selections propagate through relationships and visual interactions.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7" y="4160520"/>
            <a:ext cx="114300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1247" y="4507992"/>
            <a:ext cx="196596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855464"/>
            <a:ext cx="278892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07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10B981"/>
                </a:solidFill>
                <a:latin typeface="Arial"/>
              </a:rPr>
              <a:t>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5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45352" y="1371600"/>
            <a:ext cx="5394960" cy="10972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7C3AED"/>
                </a:solidFill>
                <a:latin typeface="Arial"/>
              </a:rPr>
              <a:t>Decision lens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every response should be intentional.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56248" y="4160520"/>
            <a:ext cx="1143000" cy="16459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56248" y="4507992"/>
            <a:ext cx="1965960" cy="16459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56248" y="4855464"/>
            <a:ext cx="2788920" cy="16459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222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22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7C3AED"/>
                </a:solidFill>
                <a:latin typeface="Arial"/>
              </a:rPr>
              <a:t>✓</a:t>
            </a:r>
          </a:p>
        </p:txBody>
      </p:sp>
    </p:spTree>
  </p:cSld>
  <p:clrMapOvr>
    <a:masterClrMapping/>
  </p:clrMapOvr>
  <p:transition spd="fast">
    <p:fade/>
  </p:transition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TOPIC 4 · CONSOLIDATED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Filter scope · Cross-filter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82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371600"/>
            <a:ext cx="5394960" cy="10972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1F6FEB"/>
                </a:solidFill>
                <a:latin typeface="Arial"/>
              </a:rPr>
              <a:t>Filter scope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Dataset security, report filters, page filters, visual filters and drillthrough each control a different boundary.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7" y="4160520"/>
            <a:ext cx="1143000" cy="16459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1247" y="4507992"/>
            <a:ext cx="1965960" cy="16459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855464"/>
            <a:ext cx="2788920" cy="16459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07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5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45352" y="1371600"/>
            <a:ext cx="5394960" cy="10972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10B981"/>
                </a:solidFill>
                <a:latin typeface="Arial"/>
              </a:rPr>
              <a:t>Cross-filter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A selection removes unrelated marks so the page focuses on the chosen segment.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56248" y="4160520"/>
            <a:ext cx="114300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56248" y="4507992"/>
            <a:ext cx="196596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56248" y="4855464"/>
            <a:ext cx="278892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222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22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10B981"/>
                </a:solidFill>
                <a:latin typeface="Arial"/>
              </a:rPr>
              <a:t>✓</a:t>
            </a:r>
          </a:p>
        </p:txBody>
      </p:sp>
    </p:spTree>
  </p:cSld>
  <p:clrMapOvr>
    <a:masterClrMapping/>
  </p:clrMapOvr>
  <p:transition spd="fast">
    <p:fade/>
  </p:transition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Cross-highlight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83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53312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353312"/>
            <a:ext cx="82296" cy="20299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6384" y="1664208"/>
            <a:ext cx="502920" cy="50292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78308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609344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What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39696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A selection highlights contribution while retaining the whole for comparison.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353312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1344" y="1353312"/>
            <a:ext cx="82296" cy="202996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37376" y="1664208"/>
            <a:ext cx="502920" cy="50292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178308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14031" y="1609344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Why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2139696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Use the idea to support a real stakeholder decision.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0352" y="3657600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0352" y="3657600"/>
            <a:ext cx="82296" cy="202996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6384" y="3968496"/>
            <a:ext cx="502920" cy="50292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08736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913632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443984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Use a defined metric, source and filter state.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1344" y="3657600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1344" y="3657600"/>
            <a:ext cx="82296" cy="202996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37376" y="3968496"/>
            <a:ext cx="502920" cy="502920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37376" y="408736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4031" y="3913632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Action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4443984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Translate the finding into an owner and next step.</a:t>
            </a:r>
          </a:p>
        </p:txBody>
      </p:sp>
    </p:spTree>
  </p:cSld>
  <p:clrMapOvr>
    <a:masterClrMapping/>
  </p:clrMapOvr>
  <p:transition spd="fast">
    <p:fade/>
  </p:transition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Edit interactions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84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89888"/>
            <a:ext cx="3566160" cy="128016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Oval 9"/>
          <p:cNvSpPr/>
          <p:nvPr/>
        </p:nvSpPr>
        <p:spPr>
          <a:xfrm>
            <a:off x="704088" y="1627632"/>
            <a:ext cx="640080" cy="6400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Meaning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Configure each visual to filter, highlight or ignore the source selection based on the stakeholder question.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" y="4736592"/>
            <a:ext cx="438912" cy="34747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572768" y="4736592"/>
            <a:ext cx="438912" cy="658368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249424" y="4736592"/>
            <a:ext cx="438912" cy="96012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9864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1F6FEB"/>
                </a:solidFill>
                <a:latin typeface="Arial"/>
              </a:rPr>
              <a:t>SIGNAL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3400" y="1389888"/>
            <a:ext cx="3566160" cy="128016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9943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Oval 20"/>
          <p:cNvSpPr/>
          <p:nvPr/>
        </p:nvSpPr>
        <p:spPr>
          <a:xfrm>
            <a:off x="4544568" y="1627632"/>
            <a:ext cx="640080" cy="6400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4456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028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Decision use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028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Use the idea to support a real stakeholder decision.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36592" y="4736592"/>
            <a:ext cx="438912" cy="34747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13248" y="4736592"/>
            <a:ext cx="438912" cy="65836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089904" y="4736592"/>
            <a:ext cx="438912" cy="96012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3912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10B981"/>
                </a:solidFill>
                <a:latin typeface="Arial"/>
              </a:rPr>
              <a:t>SIGNAL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388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83880" y="1389888"/>
            <a:ext cx="3566160" cy="128016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3991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Oval 31"/>
          <p:cNvSpPr/>
          <p:nvPr/>
        </p:nvSpPr>
        <p:spPr>
          <a:xfrm>
            <a:off x="8385048" y="1627632"/>
            <a:ext cx="640080" cy="64008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8504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3076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Quality check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3076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Confirm grain, filter context and whether the display could be misread.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77072" y="4736592"/>
            <a:ext cx="438912" cy="34747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253728" y="4736592"/>
            <a:ext cx="438912" cy="658368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930384" y="4736592"/>
            <a:ext cx="438912" cy="9601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7960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7C3AED"/>
                </a:solidFill>
                <a:latin typeface="Arial"/>
              </a:rPr>
              <a:t>SIGNAL</a:t>
            </a:r>
          </a:p>
        </p:txBody>
      </p:sp>
    </p:spTree>
  </p:cSld>
  <p:clrMapOvr>
    <a:masterClrMapping/>
  </p:clrMapOvr>
  <p:transition spd="fast">
    <p:fade/>
  </p:transition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WHY IT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Slicers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85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444752"/>
            <a:ext cx="11000232" cy="2907792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91640"/>
            <a:ext cx="91440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5000" b="1">
                <a:solidFill>
                  <a:srgbClr val="7C3AED"/>
                </a:solidFill>
                <a:latin typeface="Arial"/>
              </a:rPr>
              <a:t>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" y="1965960"/>
            <a:ext cx="9738360" cy="1417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Expose the few high-value filters users need and show the active selection clearly.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85032"/>
            <a:ext cx="932688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800" b="0">
                <a:solidFill>
                  <a:srgbClr val="E2E8F0"/>
                </a:solidFill>
                <a:latin typeface="Arial"/>
              </a:rPr>
              <a:t>Use the idea to support a real stakeholder decision.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645152"/>
            <a:ext cx="3566160" cy="107899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4855464"/>
            <a:ext cx="9144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QUESTION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28216" y="4800600"/>
            <a:ext cx="2212848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rial"/>
              </a:rPr>
              <a:t>What must be decided?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59" y="4645152"/>
            <a:ext cx="3566160" cy="107899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81727" y="4855464"/>
            <a:ext cx="9144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50407" y="4800600"/>
            <a:ext cx="2212848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rial"/>
              </a:rPr>
              <a:t>What supports the claim?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02752" y="4645152"/>
            <a:ext cx="3566160" cy="107899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0" y="4855464"/>
            <a:ext cx="9144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ACTION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4800600"/>
            <a:ext cx="2212848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rial"/>
              </a:rPr>
              <a:t>Who acts next?</a:t>
            </a:r>
          </a:p>
        </p:txBody>
      </p:sp>
    </p:spTree>
  </p:cSld>
  <p:clrMapOvr>
    <a:masterClrMapping/>
  </p:clrMapOvr>
  <p:transition spd="fast">
    <p:fade/>
  </p:transition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rial"/>
              </a:rPr>
              <a:t>CONCEPT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Sync slicers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86</a:t>
            </a:r>
          </a:p>
        </p:txBody>
      </p:sp>
      <p:sp>
        <p:nvSpPr>
          <p:cNvPr id="7" name="Oval 6"/>
          <p:cNvSpPr/>
          <p:nvPr/>
        </p:nvSpPr>
        <p:spPr>
          <a:xfrm>
            <a:off x="5029200" y="2542032"/>
            <a:ext cx="2139696" cy="1828800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84648" y="3127248"/>
            <a:ext cx="1828800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DECISION
READY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17320"/>
            <a:ext cx="27432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417320"/>
            <a:ext cx="73152" cy="128016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600200"/>
            <a:ext cx="2240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QUESTION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920240"/>
            <a:ext cx="22402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Shared filter state creates continuity across pages.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337560" y="2057400"/>
            <a:ext cx="1691640" cy="1399032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851392" y="1417320"/>
            <a:ext cx="27432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51392" y="1417320"/>
            <a:ext cx="73152" cy="128016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9992" y="1600200"/>
            <a:ext cx="2240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CONTEXT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1920240"/>
            <a:ext cx="22402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avoid hidden states that surprise users.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7168896" y="2057400"/>
            <a:ext cx="1682496" cy="1399032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94360" y="4160520"/>
            <a:ext cx="27432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4360" y="4160520"/>
            <a:ext cx="73152" cy="128016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343400"/>
            <a:ext cx="2240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663440"/>
            <a:ext cx="22402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Validate grain, filters and definitions.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3337560" y="3456432"/>
            <a:ext cx="1691640" cy="1344168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851392" y="4160520"/>
            <a:ext cx="27432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51392" y="4160520"/>
            <a:ext cx="73152" cy="128016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79992" y="4343400"/>
            <a:ext cx="2240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rial"/>
              </a:rPr>
              <a:t>HANDOFF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9992" y="4663440"/>
            <a:ext cx="22402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State evidence, limitation, owner and next action.</a:t>
            </a:r>
          </a:p>
        </p:txBody>
      </p:sp>
      <p:cxnSp>
        <p:nvCxnSpPr>
          <p:cNvPr id="28" name="Connector 27"/>
          <p:cNvCxnSpPr/>
          <p:nvPr/>
        </p:nvCxnSpPr>
        <p:spPr>
          <a:xfrm flipH="1" flipV="1">
            <a:off x="7168896" y="3456432"/>
            <a:ext cx="1682496" cy="1344168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fast">
    <p:fade/>
  </p:transition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Hierarchies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87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53312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353312"/>
            <a:ext cx="82296" cy="20299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6384" y="1664208"/>
            <a:ext cx="502920" cy="50292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78308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609344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What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39696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Ordered levels support drill paths such as Year → Quarter → Month or Region → Country → Store.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353312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1344" y="1353312"/>
            <a:ext cx="82296" cy="202996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37376" y="1664208"/>
            <a:ext cx="502920" cy="50292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178308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14031" y="1609344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Why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2139696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Use the idea to support a real stakeholder decision.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0352" y="3657600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0352" y="3657600"/>
            <a:ext cx="82296" cy="202996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6384" y="3968496"/>
            <a:ext cx="502920" cy="50292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08736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913632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443984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Use a defined metric, source and filter state.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1344" y="3657600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1344" y="3657600"/>
            <a:ext cx="82296" cy="202996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37376" y="3968496"/>
            <a:ext cx="502920" cy="502920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37376" y="408736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4031" y="3913632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Action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4443984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Translate the finding into an owner and next step.</a:t>
            </a:r>
          </a:p>
        </p:txBody>
      </p:sp>
    </p:spTree>
  </p:cSld>
  <p:clrMapOvr>
    <a:masterClrMapping/>
  </p:clrMapOvr>
  <p:transition spd="fast">
    <p:fade/>
  </p:transition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DECISION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Drillthrough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88</a:t>
            </a:r>
          </a:p>
        </p:txBody>
      </p:sp>
      <p:sp>
        <p:nvSpPr>
          <p:cNvPr id="7" name="Oval 6"/>
          <p:cNvSpPr/>
          <p:nvPr/>
        </p:nvSpPr>
        <p:spPr>
          <a:xfrm>
            <a:off x="658368" y="1325880"/>
            <a:ext cx="658368" cy="65836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527048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08760" y="1280160"/>
            <a:ext cx="996696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83080" y="1408176"/>
            <a:ext cx="2514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F6FEB"/>
                </a:solidFill>
                <a:latin typeface="Arial"/>
              </a:rPr>
              <a:t>Frame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399032"/>
            <a:ext cx="6812280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Carry context from a summary mark to a focused detail page with a clear route back.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2468880"/>
            <a:ext cx="658368" cy="65836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670048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08760" y="2423160"/>
            <a:ext cx="996696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83080" y="2551176"/>
            <a:ext cx="2514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0B981"/>
                </a:solidFill>
                <a:latin typeface="Arial"/>
              </a:rPr>
              <a:t>Inspect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2542032"/>
            <a:ext cx="6812280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Use the idea to support a real stakeholder decision.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611880"/>
            <a:ext cx="658368" cy="658368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813048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08760" y="3566160"/>
            <a:ext cx="996696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83080" y="3694176"/>
            <a:ext cx="2514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7C3AED"/>
                </a:solidFill>
                <a:latin typeface="Arial"/>
              </a:rPr>
              <a:t>Test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51960" y="3685032"/>
            <a:ext cx="6812280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Check the result under a second filter or scenario.</a:t>
            </a:r>
          </a:p>
        </p:txBody>
      </p:sp>
      <p:sp>
        <p:nvSpPr>
          <p:cNvPr id="22" name="Oval 21"/>
          <p:cNvSpPr/>
          <p:nvPr/>
        </p:nvSpPr>
        <p:spPr>
          <a:xfrm>
            <a:off x="658368" y="4754880"/>
            <a:ext cx="658368" cy="658368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4956048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508760" y="4709160"/>
            <a:ext cx="996696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83080" y="4837176"/>
            <a:ext cx="2514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  <a:latin typeface="Arial"/>
              </a:rPr>
              <a:t>Communicate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51960" y="4828032"/>
            <a:ext cx="6812280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State finding, evidence, limitation and action.</a:t>
            </a:r>
          </a:p>
        </p:txBody>
      </p:sp>
    </p:spTree>
  </p:cSld>
  <p:clrMapOvr>
    <a:masterClrMapping/>
  </p:clrMapOvr>
  <p:transition spd="fast">
    <p:fade/>
  </p:transition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Bookmarks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89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89888"/>
            <a:ext cx="3566160" cy="128016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Oval 9"/>
          <p:cNvSpPr/>
          <p:nvPr/>
        </p:nvSpPr>
        <p:spPr>
          <a:xfrm>
            <a:off x="704088" y="1627632"/>
            <a:ext cx="640080" cy="6400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Meaning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Capture filter, display and navigation states to build guided stories and reset controls.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" y="4736592"/>
            <a:ext cx="438912" cy="34747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572768" y="4736592"/>
            <a:ext cx="438912" cy="658368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249424" y="4736592"/>
            <a:ext cx="438912" cy="96012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9864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1F6FEB"/>
                </a:solidFill>
                <a:latin typeface="Arial"/>
              </a:rPr>
              <a:t>SIGNAL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3400" y="1389888"/>
            <a:ext cx="3566160" cy="128016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9943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Oval 20"/>
          <p:cNvSpPr/>
          <p:nvPr/>
        </p:nvSpPr>
        <p:spPr>
          <a:xfrm>
            <a:off x="4544568" y="1627632"/>
            <a:ext cx="640080" cy="6400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4456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028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Decision use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028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Use the idea to support a real stakeholder decision.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36592" y="4736592"/>
            <a:ext cx="438912" cy="34747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13248" y="4736592"/>
            <a:ext cx="438912" cy="65836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089904" y="4736592"/>
            <a:ext cx="438912" cy="96012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3912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10B981"/>
                </a:solidFill>
                <a:latin typeface="Arial"/>
              </a:rPr>
              <a:t>SIGNAL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388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83880" y="1389888"/>
            <a:ext cx="3566160" cy="128016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3991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Oval 31"/>
          <p:cNvSpPr/>
          <p:nvPr/>
        </p:nvSpPr>
        <p:spPr>
          <a:xfrm>
            <a:off x="8385048" y="1627632"/>
            <a:ext cx="640080" cy="64008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8504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3076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Quality check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3076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Confirm grain, filter context and whether the display could be misread.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77072" y="4736592"/>
            <a:ext cx="438912" cy="34747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253728" y="4736592"/>
            <a:ext cx="438912" cy="658368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930384" y="4736592"/>
            <a:ext cx="438912" cy="9601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7960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7C3AED"/>
                </a:solidFill>
                <a:latin typeface="Arial"/>
              </a:rPr>
              <a:t>SIGNAL</a:t>
            </a:r>
          </a:p>
        </p:txBody>
      </p:sp>
    </p:spTree>
  </p:cSld>
  <p:clrMapOvr>
    <a:masterClrMapping/>
  </p:clrMapOvr>
  <p:transition spd="fast">
    <p:fade/>
  </p:transition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Buttons and navigation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90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371600"/>
            <a:ext cx="5394960" cy="10972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F59E0B"/>
                </a:solidFill>
                <a:latin typeface="Arial"/>
              </a:rPr>
              <a:t>Core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Use consistent labels, states and placement so navigation feels predictable.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7" y="4160520"/>
            <a:ext cx="1143000" cy="16459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1247" y="4507992"/>
            <a:ext cx="1965960" cy="16459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855464"/>
            <a:ext cx="2788920" cy="16459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07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59E0B"/>
                </a:solidFill>
                <a:latin typeface="Arial"/>
              </a:rPr>
              <a:t>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5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45352" y="1371600"/>
            <a:ext cx="5394960" cy="10972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10B981"/>
                </a:solidFill>
                <a:latin typeface="Arial"/>
              </a:rPr>
              <a:t>Decision lens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Use the idea to support a real stakeholder decision.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56248" y="4160520"/>
            <a:ext cx="114300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56248" y="4507992"/>
            <a:ext cx="196596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56248" y="4855464"/>
            <a:ext cx="278892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222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22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10B981"/>
                </a:solidFill>
                <a:latin typeface="Arial"/>
              </a:rPr>
              <a:t>✓</a:t>
            </a:r>
          </a:p>
        </p:txBody>
      </p:sp>
    </p:spTree>
  </p:cSld>
  <p:clrMapOvr>
    <a:masterClrMapping/>
  </p:clrMapOvr>
  <p:transition spd="fast">
    <p:fade/>
  </p:transition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EDITABLE POWERPOINT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Conditional formatting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91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371600"/>
          <a:ext cx="7543800" cy="42245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458200" y="1371600"/>
            <a:ext cx="3063240" cy="422452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9952" y="1700784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1F6FEB"/>
                </a:solidFill>
                <a:latin typeface="Arial"/>
              </a:rPr>
              <a:t>WHAT THE DATA SHOWS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59952" y="2176272"/>
            <a:ext cx="2432304" cy="2057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The editable visual links a measured pattern to a specific review question.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59952" y="4800600"/>
            <a:ext cx="24231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rial"/>
              </a:rPr>
              <a:t>Chart is native and editable in PowerPoint.</a:t>
            </a:r>
          </a:p>
        </p:txBody>
      </p:sp>
    </p:spTree>
  </p:cSld>
  <p:clrMapOvr>
    <a:masterClrMapping/>
  </p:clrMapOvr>
  <p:transition spd="fast">
    <p:fade/>
  </p:transition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Report-page tooltips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92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371600"/>
            <a:ext cx="5394960" cy="10972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10B981"/>
                </a:solidFill>
                <a:latin typeface="Arial"/>
              </a:rPr>
              <a:t>Core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Provide rich context on hover while keeping the primary view simple.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7" y="4160520"/>
            <a:ext cx="114300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1247" y="4507992"/>
            <a:ext cx="196596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855464"/>
            <a:ext cx="278892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07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10B981"/>
                </a:solidFill>
                <a:latin typeface="Arial"/>
              </a:rPr>
              <a:t>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5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45352" y="1371600"/>
            <a:ext cx="5394960" cy="10972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7C3AED"/>
                </a:solidFill>
                <a:latin typeface="Arial"/>
              </a:rPr>
              <a:t>Decision lens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Use the idea to support a real stakeholder decision.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56248" y="4160520"/>
            <a:ext cx="1143000" cy="16459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56248" y="4507992"/>
            <a:ext cx="1965960" cy="16459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56248" y="4855464"/>
            <a:ext cx="2788920" cy="16459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222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22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7C3AED"/>
                </a:solidFill>
                <a:latin typeface="Arial"/>
              </a:rPr>
              <a:t>✓</a:t>
            </a:r>
          </a:p>
        </p:txBody>
      </p:sp>
    </p:spTree>
  </p:cSld>
  <p:clrMapOvr>
    <a:masterClrMapping/>
  </p:clrMapOvr>
  <p:transition spd="fast">
    <p:fade/>
  </p:transition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CONCEPT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Field parameters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93</a:t>
            </a:r>
          </a:p>
        </p:txBody>
      </p:sp>
      <p:sp>
        <p:nvSpPr>
          <p:cNvPr id="7" name="Oval 6"/>
          <p:cNvSpPr/>
          <p:nvPr/>
        </p:nvSpPr>
        <p:spPr>
          <a:xfrm>
            <a:off x="5029200" y="2542032"/>
            <a:ext cx="2139696" cy="182880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84648" y="3127248"/>
            <a:ext cx="1828800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DECISION
READY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17320"/>
            <a:ext cx="27432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417320"/>
            <a:ext cx="73152" cy="128016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600200"/>
            <a:ext cx="2240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QUESTION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920240"/>
            <a:ext cx="22402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Let users switch dimensions or measures without duplicating pages.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337560" y="2057400"/>
            <a:ext cx="1691640" cy="1399032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851392" y="1417320"/>
            <a:ext cx="27432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51392" y="1417320"/>
            <a:ext cx="73152" cy="128016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9992" y="1600200"/>
            <a:ext cx="2240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CONTEXT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1920240"/>
            <a:ext cx="22402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Use the idea to support a real stakeholder decision.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7168896" y="2057400"/>
            <a:ext cx="1682496" cy="1399032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94360" y="4160520"/>
            <a:ext cx="27432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4360" y="4160520"/>
            <a:ext cx="73152" cy="128016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343400"/>
            <a:ext cx="2240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663440"/>
            <a:ext cx="22402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Validate grain, filters and definitions.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3337560" y="3456432"/>
            <a:ext cx="1691640" cy="1344168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851392" y="4160520"/>
            <a:ext cx="27432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51392" y="4160520"/>
            <a:ext cx="73152" cy="128016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79992" y="4343400"/>
            <a:ext cx="2240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rial"/>
              </a:rPr>
              <a:t>HANDOFF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9992" y="4663440"/>
            <a:ext cx="22402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State evidence, limitation, owner and next action.</a:t>
            </a:r>
          </a:p>
        </p:txBody>
      </p:sp>
      <p:cxnSp>
        <p:nvCxnSpPr>
          <p:cNvPr id="28" name="Connector 27"/>
          <p:cNvCxnSpPr/>
          <p:nvPr/>
        </p:nvCxnSpPr>
        <p:spPr>
          <a:xfrm flipH="1" flipV="1">
            <a:off x="7168896" y="3456432"/>
            <a:ext cx="1682496" cy="1344168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fast">
    <p:fade/>
  </p:transition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What-if parameters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94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89888"/>
            <a:ext cx="3566160" cy="128016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Oval 9"/>
          <p:cNvSpPr/>
          <p:nvPr/>
        </p:nvSpPr>
        <p:spPr>
          <a:xfrm>
            <a:off x="704088" y="1627632"/>
            <a:ext cx="640080" cy="6400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Meaning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Turn a report into a controlled scenario tool while distinguishing assumptions from actuals.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" y="4736592"/>
            <a:ext cx="438912" cy="34747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572768" y="4736592"/>
            <a:ext cx="438912" cy="658368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249424" y="4736592"/>
            <a:ext cx="438912" cy="96012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9864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1F6FEB"/>
                </a:solidFill>
                <a:latin typeface="Arial"/>
              </a:rPr>
              <a:t>SIGNAL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3400" y="1389888"/>
            <a:ext cx="3566160" cy="128016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9943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Oval 20"/>
          <p:cNvSpPr/>
          <p:nvPr/>
        </p:nvSpPr>
        <p:spPr>
          <a:xfrm>
            <a:off x="4544568" y="1627632"/>
            <a:ext cx="640080" cy="6400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4456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028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Decision use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028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Use the idea to support a real stakeholder decision.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36592" y="4736592"/>
            <a:ext cx="438912" cy="34747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13248" y="4736592"/>
            <a:ext cx="438912" cy="65836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089904" y="4736592"/>
            <a:ext cx="438912" cy="96012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3912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10B981"/>
                </a:solidFill>
                <a:latin typeface="Arial"/>
              </a:rPr>
              <a:t>SIGNAL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388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83880" y="1389888"/>
            <a:ext cx="3566160" cy="128016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3991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Oval 31"/>
          <p:cNvSpPr/>
          <p:nvPr/>
        </p:nvSpPr>
        <p:spPr>
          <a:xfrm>
            <a:off x="8385048" y="1627632"/>
            <a:ext cx="640080" cy="64008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8504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3076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Quality check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3076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Confirm grain, filter context and whether the display could be misread.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77072" y="4736592"/>
            <a:ext cx="438912" cy="34747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253728" y="4736592"/>
            <a:ext cx="438912" cy="658368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930384" y="4736592"/>
            <a:ext cx="438912" cy="9601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7960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7C3AED"/>
                </a:solidFill>
                <a:latin typeface="Arial"/>
              </a:rPr>
              <a:t>SIGNAL</a:t>
            </a:r>
          </a:p>
        </p:txBody>
      </p:sp>
    </p:spTree>
  </p:cSld>
  <p:clrMapOvr>
    <a:masterClrMapping/>
  </p:clrMapOvr>
  <p:transition spd="fast">
    <p:fade/>
  </p:transition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Interactive UX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95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53312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353312"/>
            <a:ext cx="82296" cy="20299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6384" y="1664208"/>
            <a:ext cx="502920" cy="50292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78308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609344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What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39696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Preserve orientation with page titles, breadcrumbs, reset state and visible filter context.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353312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1344" y="1353312"/>
            <a:ext cx="82296" cy="202996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37376" y="1664208"/>
            <a:ext cx="502920" cy="50292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178308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14031" y="1609344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Why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2139696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Use the idea to support a real stakeholder decision.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0352" y="3657600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0352" y="3657600"/>
            <a:ext cx="82296" cy="202996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6384" y="3968496"/>
            <a:ext cx="502920" cy="50292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08736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913632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443984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Use a defined metric, source and filter state.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1344" y="3657600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1344" y="3657600"/>
            <a:ext cx="82296" cy="202996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37376" y="3968496"/>
            <a:ext cx="502920" cy="502920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37376" y="408736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4031" y="3913632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Action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4443984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Translate the finding into an owner and next step.</a:t>
            </a:r>
          </a:p>
        </p:txBody>
      </p:sp>
    </p:spTree>
  </p:cSld>
  <p:clrMapOvr>
    <a:masterClrMapping/>
  </p:clrMapOvr>
  <p:transition spd="fast">
    <p:fade/>
  </p:transition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Stakeholder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96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371600"/>
            <a:ext cx="5394960" cy="10972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10B981"/>
                </a:solidFill>
                <a:latin typeface="Arial"/>
              </a:rPr>
              <a:t>Core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Test the display against real questions, expected actions and common misinterpretations.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7" y="4160520"/>
            <a:ext cx="114300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1247" y="4507992"/>
            <a:ext cx="196596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855464"/>
            <a:ext cx="278892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07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10B981"/>
                </a:solidFill>
                <a:latin typeface="Arial"/>
              </a:rPr>
              <a:t>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5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45352" y="1371600"/>
            <a:ext cx="5394960" cy="10972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7C3AED"/>
                </a:solidFill>
                <a:latin typeface="Arial"/>
              </a:rPr>
              <a:t>Decision lens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Use the idea to support a real stakeholder decision.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56248" y="4160520"/>
            <a:ext cx="1143000" cy="16459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56248" y="4507992"/>
            <a:ext cx="1965960" cy="16459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56248" y="4855464"/>
            <a:ext cx="2788920" cy="16459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222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22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7C3AED"/>
                </a:solidFill>
                <a:latin typeface="Arial"/>
              </a:rPr>
              <a:t>✓</a:t>
            </a:r>
          </a:p>
        </p:txBody>
      </p:sp>
    </p:spTree>
  </p:cSld>
  <p:clrMapOvr>
    <a:masterClrMapping/>
  </p:clrMapOvr>
  <p:transition spd="fast">
    <p:fade/>
  </p:transition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HANDS-ON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Lab 6 · Create Dynamic Interactions and Navigation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97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25880"/>
            <a:ext cx="2971800" cy="4498848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64208"/>
            <a:ext cx="23774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INTERMEDIATE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2423160" cy="1280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6800" b="1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160520"/>
            <a:ext cx="242316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CBD5E1"/>
                </a:solidFill>
                <a:latin typeface="Arial"/>
              </a:rPr>
              <a:t>LO4 · K4 · A4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67328" y="1325880"/>
            <a:ext cx="7754112" cy="1225296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67328" y="1325880"/>
            <a:ext cx="82296" cy="1225296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69080" y="1490472"/>
            <a:ext cx="157276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1481328"/>
            <a:ext cx="5468112" cy="6949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rial"/>
              </a:rPr>
              <a:t>An interactive report with slicers, drillthrough, bookmarks and tested interactions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67328" y="2825496"/>
            <a:ext cx="7754112" cy="1225296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67328" y="2825496"/>
            <a:ext cx="82296" cy="1225296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9080" y="2990088"/>
            <a:ext cx="157276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FILES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2980944"/>
            <a:ext cx="5468112" cy="6949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rial"/>
              </a:rPr>
              <a:t>Campaign_Performance.xlsx · starter.pbix · README.md/PDF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67328" y="4325112"/>
            <a:ext cx="7754112" cy="1225296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767328" y="4325112"/>
            <a:ext cx="82296" cy="1225296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69080" y="4489703"/>
            <a:ext cx="157276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PASS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23560" y="4480559"/>
            <a:ext cx="5468112" cy="6949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rial"/>
              </a:rPr>
              <a:t>Every interaction is intentional; drill paths work; reset navigation restores the default state.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67328" y="5513832"/>
            <a:ext cx="7754112" cy="38404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05072" y="5614416"/>
            <a:ext cx="960120" cy="14630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10B981"/>
                </a:solidFill>
                <a:latin typeface="Arial"/>
              </a:rPr>
              <a:t>PROCEDURE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74920" y="5577840"/>
            <a:ext cx="53949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Arial"/>
              </a:rPr>
              <a:t>Learner Guide + lab README</a:t>
            </a:r>
          </a:p>
        </p:txBody>
      </p:sp>
    </p:spTree>
  </p:cSld>
  <p:clrMapOvr>
    <a:masterClrMapping/>
  </p:clrMapOvr>
  <p:transition spd="fast">
    <p:fade/>
  </p:transition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828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  <a:latin typeface="Arial"/>
              </a:rPr>
              <a:t>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96528" y="457200"/>
            <a:ext cx="2560320" cy="19202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600" b="1">
                <a:solidFill>
                  <a:srgbClr val="1E293B"/>
                </a:solidFill>
                <a:latin typeface="Arial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38528"/>
            <a:ext cx="9875520" cy="12618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Create a Strategic Data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730752"/>
            <a:ext cx="54864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93C5FD"/>
                </a:solidFill>
                <a:latin typeface="Arial"/>
              </a:rPr>
              <a:t>K5 · A5 · LO5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599432"/>
            <a:ext cx="859536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CBD5E1"/>
                </a:solidFill>
                <a:latin typeface="Arial"/>
              </a:rPr>
              <a:t>Concepts on slides · detailed procedures in the Learner Guide and lab folders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  <p:transition spd="fast">
    <p:push dir="l"/>
  </p:transition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Semantic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99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371600"/>
            <a:ext cx="5394960" cy="10972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7C3AED"/>
                </a:solidFill>
                <a:latin typeface="Arial"/>
              </a:rPr>
              <a:t>Core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A model organizes reusable business meaning: tables, relationships, measures, hierarchies and security.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7" y="4160520"/>
            <a:ext cx="1143000" cy="16459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1247" y="4507992"/>
            <a:ext cx="1965960" cy="16459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855464"/>
            <a:ext cx="2788920" cy="16459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07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7C3AED"/>
                </a:solidFill>
                <a:latin typeface="Arial"/>
              </a:rPr>
              <a:t>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5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45352" y="1371600"/>
            <a:ext cx="5394960" cy="10972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10B981"/>
                </a:solidFill>
                <a:latin typeface="Arial"/>
              </a:rPr>
              <a:t>Decision lens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Use the idea to support a real stakeholder decision.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56248" y="4160520"/>
            <a:ext cx="114300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56248" y="4507992"/>
            <a:ext cx="196596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56248" y="4855464"/>
            <a:ext cx="278892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222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22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10B981"/>
                </a:solidFill>
                <a:latin typeface="Arial"/>
              </a:rPr>
              <a:t>✓</a:t>
            </a:r>
          </a:p>
        </p:txBody>
      </p:sp>
    </p:spTree>
  </p:cSld>
  <p:clrMapOvr>
    <a:masterClrMapping/>
  </p:clrMapOvr>
  <p:transition spd="fast">
    <p:fade/>
  </p:transition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rial"/>
              </a:rPr>
              <a:t>CONCEPT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Star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100</a:t>
            </a:r>
          </a:p>
        </p:txBody>
      </p:sp>
      <p:sp>
        <p:nvSpPr>
          <p:cNvPr id="7" name="Oval 6"/>
          <p:cNvSpPr/>
          <p:nvPr/>
        </p:nvSpPr>
        <p:spPr>
          <a:xfrm>
            <a:off x="5029200" y="2542032"/>
            <a:ext cx="2139696" cy="1828800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84648" y="3127248"/>
            <a:ext cx="1828800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DECISION
READY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17320"/>
            <a:ext cx="27432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417320"/>
            <a:ext cx="73152" cy="128016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600200"/>
            <a:ext cx="2240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QUESTION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920240"/>
            <a:ext cx="22402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A central fact table records events.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337560" y="2057400"/>
            <a:ext cx="1691640" cy="1399032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851392" y="1417320"/>
            <a:ext cx="27432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51392" y="1417320"/>
            <a:ext cx="73152" cy="128016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9992" y="1600200"/>
            <a:ext cx="2240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CONTEXT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1920240"/>
            <a:ext cx="22402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surrounding dimensions describe who, what, where and when.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7168896" y="2057400"/>
            <a:ext cx="1682496" cy="1399032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94360" y="4160520"/>
            <a:ext cx="27432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4360" y="4160520"/>
            <a:ext cx="73152" cy="128016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343400"/>
            <a:ext cx="2240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663440"/>
            <a:ext cx="22402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Validate grain, filters and definitions.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3337560" y="3456432"/>
            <a:ext cx="1691640" cy="1344168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851392" y="4160520"/>
            <a:ext cx="27432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51392" y="4160520"/>
            <a:ext cx="73152" cy="128016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79992" y="4343400"/>
            <a:ext cx="2240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rial"/>
              </a:rPr>
              <a:t>HANDOFF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9992" y="4663440"/>
            <a:ext cx="22402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State evidence, limitation, owner and next action.</a:t>
            </a:r>
          </a:p>
        </p:txBody>
      </p:sp>
      <p:cxnSp>
        <p:nvCxnSpPr>
          <p:cNvPr id="28" name="Connector 27"/>
          <p:cNvCxnSpPr/>
          <p:nvPr/>
        </p:nvCxnSpPr>
        <p:spPr>
          <a:xfrm flipH="1" flipV="1">
            <a:off x="7168896" y="3456432"/>
            <a:ext cx="1682496" cy="1344168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fast">
    <p:fade/>
  </p:transition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WHY IT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Fact tables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101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444752"/>
            <a:ext cx="11000232" cy="2907792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91640"/>
            <a:ext cx="91440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5000" b="1">
                <a:solidFill>
                  <a:srgbClr val="1F6FEB"/>
                </a:solidFill>
                <a:latin typeface="Arial"/>
              </a:rPr>
              <a:t>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" y="1965960"/>
            <a:ext cx="9738360" cy="1417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Facts have a declared grain, foreign keys and numeric observations suitable for aggregation.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85032"/>
            <a:ext cx="932688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800" b="0">
                <a:solidFill>
                  <a:srgbClr val="E2E8F0"/>
                </a:solidFill>
                <a:latin typeface="Arial"/>
              </a:rPr>
              <a:t>Use the idea to support a real stakeholder decision.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645152"/>
            <a:ext cx="3566160" cy="107899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4855464"/>
            <a:ext cx="9144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QUESTION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28216" y="4800600"/>
            <a:ext cx="2212848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rial"/>
              </a:rPr>
              <a:t>What must be decided?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59" y="4645152"/>
            <a:ext cx="3566160" cy="107899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81727" y="4855464"/>
            <a:ext cx="9144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50407" y="4800600"/>
            <a:ext cx="2212848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rial"/>
              </a:rPr>
              <a:t>What supports the claim?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02752" y="4645152"/>
            <a:ext cx="3566160" cy="107899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0" y="4855464"/>
            <a:ext cx="9144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ACTION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4800600"/>
            <a:ext cx="2212848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rial"/>
              </a:rPr>
              <a:t>Who acts next?</a:t>
            </a:r>
          </a:p>
        </p:txBody>
      </p:sp>
    </p:spTree>
  </p:cSld>
  <p:clrMapOvr>
    <a:masterClrMapping/>
  </p:clrMapOvr>
  <p:transition spd="fast">
    <p:fade/>
  </p:transition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TOPIC 5 · CONSOLIDATED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Dimension tables · Relationship keys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371600"/>
            <a:ext cx="5394960" cy="10972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10B981"/>
                </a:solidFill>
                <a:latin typeface="Arial"/>
              </a:rPr>
              <a:t>Dimension tables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Dimensions provide stable descriptive attributes for grouping, filtering and labeling.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7" y="4160520"/>
            <a:ext cx="114300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1247" y="4507992"/>
            <a:ext cx="196596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855464"/>
            <a:ext cx="278892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07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10B981"/>
                </a:solidFill>
                <a:latin typeface="Arial"/>
              </a:rPr>
              <a:t>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5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45352" y="1371600"/>
            <a:ext cx="5394960" cy="10972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7C3AED"/>
                </a:solidFill>
                <a:latin typeface="Arial"/>
              </a:rPr>
              <a:t>Relationship keys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Use unique dimension keys and matching fact foreign keys; validate unmatched and duplicate values.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56248" y="4160520"/>
            <a:ext cx="1143000" cy="16459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56248" y="4507992"/>
            <a:ext cx="1965960" cy="16459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56248" y="4855464"/>
            <a:ext cx="2788920" cy="16459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222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22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7C3AED"/>
                </a:solidFill>
                <a:latin typeface="Arial"/>
              </a:rPr>
              <a:t>✓</a:t>
            </a:r>
          </a:p>
        </p:txBody>
      </p:sp>
    </p:spTree>
  </p:cSld>
  <p:clrMapOvr>
    <a:masterClrMapping/>
  </p:clrMapOvr>
  <p:transition spd="fast">
    <p:fade/>
  </p:transition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rial"/>
              </a:rPr>
              <a:t>WHY IT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Cardinality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444752"/>
            <a:ext cx="11000232" cy="2907792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91640"/>
            <a:ext cx="91440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5000" b="1">
                <a:solidFill>
                  <a:srgbClr val="F59E0B"/>
                </a:solidFill>
                <a:latin typeface="Arial"/>
              </a:rPr>
              <a:t>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" y="1965960"/>
            <a:ext cx="9738360" cy="1417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One-to-many is the normal star pattern.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85032"/>
            <a:ext cx="932688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800" b="0">
                <a:solidFill>
                  <a:srgbClr val="E2E8F0"/>
                </a:solidFill>
                <a:latin typeface="Arial"/>
              </a:rPr>
              <a:t>one-to-one and many-to-many require explicit justification.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645152"/>
            <a:ext cx="3566160" cy="107899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4855464"/>
            <a:ext cx="9144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rial"/>
              </a:rPr>
              <a:t>QUESTION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28216" y="4800600"/>
            <a:ext cx="2212848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rial"/>
              </a:rPr>
              <a:t>What must be decided?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59" y="4645152"/>
            <a:ext cx="3566160" cy="107899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81727" y="4855464"/>
            <a:ext cx="9144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rial"/>
              </a:rPr>
              <a:t>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50407" y="4800600"/>
            <a:ext cx="2212848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rial"/>
              </a:rPr>
              <a:t>What supports the claim?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02752" y="4645152"/>
            <a:ext cx="3566160" cy="107899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0" y="4855464"/>
            <a:ext cx="9144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rial"/>
              </a:rPr>
              <a:t>ACTION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4800600"/>
            <a:ext cx="2212848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rial"/>
              </a:rPr>
              <a:t>Who acts next?</a:t>
            </a:r>
          </a:p>
        </p:txBody>
      </p:sp>
    </p:spTree>
  </p:cSld>
  <p:clrMapOvr>
    <a:masterClrMapping/>
  </p:clrMapOvr>
  <p:transition spd="fast">
    <p:fade/>
  </p:transition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CONCEPT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Cross-filter direction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104</a:t>
            </a:r>
          </a:p>
        </p:txBody>
      </p:sp>
      <p:sp>
        <p:nvSpPr>
          <p:cNvPr id="7" name="Oval 6"/>
          <p:cNvSpPr/>
          <p:nvPr/>
        </p:nvSpPr>
        <p:spPr>
          <a:xfrm>
            <a:off x="5029200" y="2542032"/>
            <a:ext cx="2139696" cy="182880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84648" y="3127248"/>
            <a:ext cx="1828800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DECISION
READY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17320"/>
            <a:ext cx="27432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417320"/>
            <a:ext cx="73152" cy="128016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600200"/>
            <a:ext cx="2240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QUESTION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920240"/>
            <a:ext cx="22402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Single direction is easier to reason about.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337560" y="2057400"/>
            <a:ext cx="1691640" cy="1399032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851392" y="1417320"/>
            <a:ext cx="27432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51392" y="1417320"/>
            <a:ext cx="73152" cy="128016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9992" y="1600200"/>
            <a:ext cx="2240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CONTEXT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1920240"/>
            <a:ext cx="22402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bidirectional filters can create ambiguity and unexpected totals.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7168896" y="2057400"/>
            <a:ext cx="1682496" cy="1399032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94360" y="4160520"/>
            <a:ext cx="27432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4360" y="4160520"/>
            <a:ext cx="73152" cy="128016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343400"/>
            <a:ext cx="2240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663440"/>
            <a:ext cx="22402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Validate grain, filters and definitions.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3337560" y="3456432"/>
            <a:ext cx="1691640" cy="1344168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851392" y="4160520"/>
            <a:ext cx="27432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51392" y="4160520"/>
            <a:ext cx="73152" cy="128016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79992" y="4343400"/>
            <a:ext cx="2240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rial"/>
              </a:rPr>
              <a:t>HANDOFF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9992" y="4663440"/>
            <a:ext cx="22402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State evidence, limitation, owner and next action.</a:t>
            </a:r>
          </a:p>
        </p:txBody>
      </p:sp>
      <p:cxnSp>
        <p:nvCxnSpPr>
          <p:cNvPr id="28" name="Connector 27"/>
          <p:cNvCxnSpPr/>
          <p:nvPr/>
        </p:nvCxnSpPr>
        <p:spPr>
          <a:xfrm flipH="1" flipV="1">
            <a:off x="7168896" y="3456432"/>
            <a:ext cx="1682496" cy="1344168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fast">
    <p:fade/>
  </p:transition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Many-to-many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53312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353312"/>
            <a:ext cx="82296" cy="20299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6384" y="1664208"/>
            <a:ext cx="502920" cy="50292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78308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609344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What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39696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Bridge tables make shared membership explicit and prevent uncontrolled duplication.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353312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1344" y="1353312"/>
            <a:ext cx="82296" cy="202996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37376" y="1664208"/>
            <a:ext cx="502920" cy="50292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178308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14031" y="1609344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Why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2139696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Use the idea to support a real stakeholder decision.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0352" y="3657600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0352" y="3657600"/>
            <a:ext cx="82296" cy="202996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6384" y="3968496"/>
            <a:ext cx="502920" cy="50292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08736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913632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443984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Use a defined metric, source and filter state.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1344" y="3657600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1344" y="3657600"/>
            <a:ext cx="82296" cy="202996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37376" y="3968496"/>
            <a:ext cx="502920" cy="502920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37376" y="408736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4031" y="3913632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Action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4443984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Translate the finding into an owner and next step.</a:t>
            </a:r>
          </a:p>
        </p:txBody>
      </p:sp>
    </p:spTree>
  </p:cSld>
  <p:clrMapOvr>
    <a:masterClrMapping/>
  </p:clrMapOvr>
  <p:transition spd="fast">
    <p:fade/>
  </p:transition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DECISION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Date dimension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106</a:t>
            </a:r>
          </a:p>
        </p:txBody>
      </p:sp>
      <p:sp>
        <p:nvSpPr>
          <p:cNvPr id="7" name="Oval 6"/>
          <p:cNvSpPr/>
          <p:nvPr/>
        </p:nvSpPr>
        <p:spPr>
          <a:xfrm>
            <a:off x="658368" y="1325880"/>
            <a:ext cx="658368" cy="65836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527048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08760" y="1280160"/>
            <a:ext cx="996696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83080" y="1408176"/>
            <a:ext cx="2514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F6FEB"/>
                </a:solidFill>
                <a:latin typeface="Arial"/>
              </a:rPr>
              <a:t>Frame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399032"/>
            <a:ext cx="6812280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A contiguous date table enables consistent calendar attributes and time intelligence.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2468880"/>
            <a:ext cx="658368" cy="65836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670048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08760" y="2423160"/>
            <a:ext cx="996696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83080" y="2551176"/>
            <a:ext cx="2514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0B981"/>
                </a:solidFill>
                <a:latin typeface="Arial"/>
              </a:rPr>
              <a:t>Inspect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2542032"/>
            <a:ext cx="6812280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Use the idea to support a real stakeholder decision.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611880"/>
            <a:ext cx="658368" cy="658368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813048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08760" y="3566160"/>
            <a:ext cx="996696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83080" y="3694176"/>
            <a:ext cx="2514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7C3AED"/>
                </a:solidFill>
                <a:latin typeface="Arial"/>
              </a:rPr>
              <a:t>Test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51960" y="3685032"/>
            <a:ext cx="6812280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Check the result under a second filter or scenario.</a:t>
            </a:r>
          </a:p>
        </p:txBody>
      </p:sp>
      <p:sp>
        <p:nvSpPr>
          <p:cNvPr id="22" name="Oval 21"/>
          <p:cNvSpPr/>
          <p:nvPr/>
        </p:nvSpPr>
        <p:spPr>
          <a:xfrm>
            <a:off x="658368" y="4754880"/>
            <a:ext cx="658368" cy="658368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4956048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508760" y="4709160"/>
            <a:ext cx="996696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83080" y="4837176"/>
            <a:ext cx="2514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  <a:latin typeface="Arial"/>
              </a:rPr>
              <a:t>Communicate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51960" y="4828032"/>
            <a:ext cx="6812280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State finding, evidence, limitation and action.</a:t>
            </a:r>
          </a:p>
        </p:txBody>
      </p:sp>
    </p:spTree>
  </p:cSld>
  <p:clrMapOvr>
    <a:masterClrMapping/>
  </p:clrMapOvr>
  <p:transition spd="fast">
    <p:fade/>
  </p:transition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Table and column properties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89888"/>
            <a:ext cx="3566160" cy="128016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Oval 9"/>
          <p:cNvSpPr/>
          <p:nvPr/>
        </p:nvSpPr>
        <p:spPr>
          <a:xfrm>
            <a:off x="704088" y="1627632"/>
            <a:ext cx="640080" cy="6400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Meaning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Names, formats, data categories and default summarization shape the authoring experience.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" y="4736592"/>
            <a:ext cx="438912" cy="34747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572768" y="4736592"/>
            <a:ext cx="438912" cy="658368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249424" y="4736592"/>
            <a:ext cx="438912" cy="96012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9864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1F6FEB"/>
                </a:solidFill>
                <a:latin typeface="Arial"/>
              </a:rPr>
              <a:t>SIGNAL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3400" y="1389888"/>
            <a:ext cx="3566160" cy="128016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9943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Oval 20"/>
          <p:cNvSpPr/>
          <p:nvPr/>
        </p:nvSpPr>
        <p:spPr>
          <a:xfrm>
            <a:off x="4544568" y="1627632"/>
            <a:ext cx="640080" cy="6400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4456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028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Decision use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028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Use the idea to support a real stakeholder decision.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36592" y="4736592"/>
            <a:ext cx="438912" cy="34747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13248" y="4736592"/>
            <a:ext cx="438912" cy="65836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089904" y="4736592"/>
            <a:ext cx="438912" cy="96012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3912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10B981"/>
                </a:solidFill>
                <a:latin typeface="Arial"/>
              </a:rPr>
              <a:t>SIGNAL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388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83880" y="1389888"/>
            <a:ext cx="3566160" cy="128016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3991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Oval 31"/>
          <p:cNvSpPr/>
          <p:nvPr/>
        </p:nvSpPr>
        <p:spPr>
          <a:xfrm>
            <a:off x="8385048" y="1627632"/>
            <a:ext cx="640080" cy="64008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8504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3076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Quality check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3076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Confirm grain, filter context and whether the display could be misread.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77072" y="4736592"/>
            <a:ext cx="438912" cy="34747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253728" y="4736592"/>
            <a:ext cx="438912" cy="658368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930384" y="4736592"/>
            <a:ext cx="438912" cy="9601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7960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7C3AED"/>
                </a:solidFill>
                <a:latin typeface="Arial"/>
              </a:rPr>
              <a:t>SIGNAL</a:t>
            </a:r>
          </a:p>
        </p:txBody>
      </p:sp>
    </p:spTree>
  </p:cSld>
  <p:clrMapOvr>
    <a:masterClrMapping/>
  </p:clrMapOvr>
  <p:transition spd="fast">
    <p:fade/>
  </p:transition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Hierarchies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371600"/>
            <a:ext cx="5394960" cy="10972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1F6FEB"/>
                </a:solidFill>
                <a:latin typeface="Arial"/>
              </a:rPr>
              <a:t>Core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Curated hierarchies guide valid drill paths and reduce repeated setup.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7" y="4160520"/>
            <a:ext cx="1143000" cy="16459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1247" y="4507992"/>
            <a:ext cx="1965960" cy="16459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855464"/>
            <a:ext cx="2788920" cy="16459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07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5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45352" y="1371600"/>
            <a:ext cx="5394960" cy="10972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10B981"/>
                </a:solidFill>
                <a:latin typeface="Arial"/>
              </a:rPr>
              <a:t>Decision lens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Use the idea to support a real stakeholder decision.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56248" y="4160520"/>
            <a:ext cx="114300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56248" y="4507992"/>
            <a:ext cx="196596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56248" y="4855464"/>
            <a:ext cx="278892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222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22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10B981"/>
                </a:solidFill>
                <a:latin typeface="Arial"/>
              </a:rPr>
              <a:t>✓</a:t>
            </a:r>
          </a:p>
        </p:txBody>
      </p:sp>
    </p:spTree>
  </p:cSld>
  <p:clrMapOvr>
    <a:masterClrMapping/>
  </p:clrMapOvr>
  <p:transition spd="fast">
    <p:fade/>
  </p:transition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Measures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53312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353312"/>
            <a:ext cx="82296" cy="20299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6384" y="1664208"/>
            <a:ext cx="502920" cy="50292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78308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609344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What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39696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Measures calculate at query time and respond to filter context.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353312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1344" y="1353312"/>
            <a:ext cx="82296" cy="202996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37376" y="1664208"/>
            <a:ext cx="502920" cy="50292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178308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14031" y="1609344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Why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2139696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Use the idea to support a real stakeholder decision.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0352" y="3657600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0352" y="3657600"/>
            <a:ext cx="82296" cy="202996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6384" y="3968496"/>
            <a:ext cx="502920" cy="50292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08736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913632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443984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Use a defined metric, source and filter state.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1344" y="3657600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1344" y="3657600"/>
            <a:ext cx="82296" cy="202996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37376" y="3968496"/>
            <a:ext cx="502920" cy="502920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37376" y="408736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4031" y="3913632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Action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4443984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Translate the finding into an owner and next step.</a:t>
            </a:r>
          </a:p>
        </p:txBody>
      </p:sp>
    </p:spTree>
  </p:cSld>
  <p:clrMapOvr>
    <a:masterClrMapping/>
  </p:clrMapOvr>
  <p:transition spd="fast">
    <p:fade/>
  </p:transition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Calculated columns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371600"/>
            <a:ext cx="5394960" cy="10972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7C3AED"/>
                </a:solidFill>
                <a:latin typeface="Arial"/>
              </a:rPr>
              <a:t>Core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Columns calculate row by row at refresh and increase model size.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7" y="4160520"/>
            <a:ext cx="1143000" cy="16459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1247" y="4507992"/>
            <a:ext cx="1965960" cy="16459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855464"/>
            <a:ext cx="2788920" cy="16459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07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7C3AED"/>
                </a:solidFill>
                <a:latin typeface="Arial"/>
              </a:rPr>
              <a:t>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5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45352" y="1371600"/>
            <a:ext cx="5394960" cy="10972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10B981"/>
                </a:solidFill>
                <a:latin typeface="Arial"/>
              </a:rPr>
              <a:t>Decision lens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use them only when a stored attribute is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56248" y="4160520"/>
            <a:ext cx="114300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56248" y="4507992"/>
            <a:ext cx="196596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56248" y="4855464"/>
            <a:ext cx="278892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222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22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10B981"/>
                </a:solidFill>
                <a:latin typeface="Arial"/>
              </a:rPr>
              <a:t>✓</a:t>
            </a:r>
          </a:p>
        </p:txBody>
      </p:sp>
    </p:spTree>
  </p:cSld>
  <p:clrMapOvr>
    <a:masterClrMapping/>
  </p:clrMapOvr>
  <p:transition spd="fast">
    <p:fade/>
  </p:transition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rial"/>
              </a:rPr>
              <a:t>CONCEPT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Granularity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111</a:t>
            </a:r>
          </a:p>
        </p:txBody>
      </p:sp>
      <p:sp>
        <p:nvSpPr>
          <p:cNvPr id="7" name="Oval 6"/>
          <p:cNvSpPr/>
          <p:nvPr/>
        </p:nvSpPr>
        <p:spPr>
          <a:xfrm>
            <a:off x="5029200" y="2542032"/>
            <a:ext cx="2139696" cy="1828800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84648" y="3127248"/>
            <a:ext cx="1828800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DECISION
READY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17320"/>
            <a:ext cx="27432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417320"/>
            <a:ext cx="73152" cy="128016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600200"/>
            <a:ext cx="2240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QUESTION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920240"/>
            <a:ext cx="22402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Declare one row's meaning before combining sources or writing measures.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337560" y="2057400"/>
            <a:ext cx="1691640" cy="1399032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851392" y="1417320"/>
            <a:ext cx="27432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51392" y="1417320"/>
            <a:ext cx="73152" cy="128016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9992" y="1600200"/>
            <a:ext cx="2240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CONTEXT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1920240"/>
            <a:ext cx="22402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Use the idea to support a real stakeholder decision.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7168896" y="2057400"/>
            <a:ext cx="1682496" cy="1399032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94360" y="4160520"/>
            <a:ext cx="27432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4360" y="4160520"/>
            <a:ext cx="73152" cy="128016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343400"/>
            <a:ext cx="2240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663440"/>
            <a:ext cx="22402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Validate grain, filters and definitions.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3337560" y="3456432"/>
            <a:ext cx="1691640" cy="1344168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851392" y="4160520"/>
            <a:ext cx="27432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51392" y="4160520"/>
            <a:ext cx="73152" cy="128016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79992" y="4343400"/>
            <a:ext cx="2240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rial"/>
              </a:rPr>
              <a:t>HANDOFF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9992" y="4663440"/>
            <a:ext cx="22402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State evidence, limitation, owner and next action.</a:t>
            </a:r>
          </a:p>
        </p:txBody>
      </p:sp>
      <p:cxnSp>
        <p:nvCxnSpPr>
          <p:cNvPr id="28" name="Connector 27"/>
          <p:cNvCxnSpPr/>
          <p:nvPr/>
        </p:nvCxnSpPr>
        <p:spPr>
          <a:xfrm flipH="1" flipV="1">
            <a:off x="7168896" y="3456432"/>
            <a:ext cx="1682496" cy="1344168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fast">
    <p:fade/>
  </p:transition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Role-playing dimensions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89888"/>
            <a:ext cx="3566160" cy="128016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Oval 9"/>
          <p:cNvSpPr/>
          <p:nvPr/>
        </p:nvSpPr>
        <p:spPr>
          <a:xfrm>
            <a:off x="704088" y="1627632"/>
            <a:ext cx="640080" cy="6400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Meaning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One Date table can relate to order, ship and due dates.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" y="4736592"/>
            <a:ext cx="438912" cy="34747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572768" y="4736592"/>
            <a:ext cx="438912" cy="658368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249424" y="4736592"/>
            <a:ext cx="438912" cy="96012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9864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1F6FEB"/>
                </a:solidFill>
                <a:latin typeface="Arial"/>
              </a:rPr>
              <a:t>SIGNAL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3400" y="1389888"/>
            <a:ext cx="3566160" cy="128016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9943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Oval 20"/>
          <p:cNvSpPr/>
          <p:nvPr/>
        </p:nvSpPr>
        <p:spPr>
          <a:xfrm>
            <a:off x="4544568" y="1627632"/>
            <a:ext cx="640080" cy="6400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4456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028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Decision use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028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only one relationship is active at a time.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36592" y="4736592"/>
            <a:ext cx="438912" cy="34747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13248" y="4736592"/>
            <a:ext cx="438912" cy="65836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089904" y="4736592"/>
            <a:ext cx="438912" cy="96012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3912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10B981"/>
                </a:solidFill>
                <a:latin typeface="Arial"/>
              </a:rPr>
              <a:t>SIGNAL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388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83880" y="1389888"/>
            <a:ext cx="3566160" cy="128016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3991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Oval 31"/>
          <p:cNvSpPr/>
          <p:nvPr/>
        </p:nvSpPr>
        <p:spPr>
          <a:xfrm>
            <a:off x="8385048" y="1627632"/>
            <a:ext cx="640080" cy="64008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8504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3076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Quality check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3076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Confirm grain, filter context and whether the display could be misread.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77072" y="4736592"/>
            <a:ext cx="438912" cy="34747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253728" y="4736592"/>
            <a:ext cx="438912" cy="658368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930384" y="4736592"/>
            <a:ext cx="438912" cy="9601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7960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7C3AED"/>
                </a:solidFill>
                <a:latin typeface="Arial"/>
              </a:rPr>
              <a:t>SIGNAL</a:t>
            </a:r>
          </a:p>
        </p:txBody>
      </p:sp>
    </p:spTree>
  </p:cSld>
  <p:clrMapOvr>
    <a:masterClrMapping/>
  </p:clrMapOvr>
  <p:transition spd="fast">
    <p:fade/>
  </p:transition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Model performance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53312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353312"/>
            <a:ext cx="82296" cy="20299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6384" y="1664208"/>
            <a:ext cx="502920" cy="50292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78308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609344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What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39696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Remove unused columns, prefer star schemas, reduce high cardinality and keep transformations upstream where practical.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353312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1344" y="1353312"/>
            <a:ext cx="82296" cy="202996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37376" y="1664208"/>
            <a:ext cx="502920" cy="50292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178308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14031" y="1609344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Why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2139696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Use the idea to support a real stakeholder decision.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0352" y="3657600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0352" y="3657600"/>
            <a:ext cx="82296" cy="202996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6384" y="3968496"/>
            <a:ext cx="502920" cy="50292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08736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913632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443984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Use a defined metric, source and filter state.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1344" y="3657600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1344" y="3657600"/>
            <a:ext cx="82296" cy="202996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37376" y="3968496"/>
            <a:ext cx="502920" cy="502920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37376" y="408736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4031" y="3913632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Action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4443984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Translate the finding into an owner and next step.</a:t>
            </a:r>
          </a:p>
        </p:txBody>
      </p:sp>
    </p:spTree>
  </p:cSld>
  <p:clrMapOvr>
    <a:masterClrMapping/>
  </p:clrMapOvr>
  <p:transition spd="fast">
    <p:fade/>
  </p:transition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Business-friendly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371600"/>
            <a:ext cx="5394960" cy="10972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7C3AED"/>
                </a:solidFill>
                <a:latin typeface="Arial"/>
              </a:rPr>
              <a:t>Core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Hide technical keys, group measures and use descriptions so authors find the right fields.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7" y="4160520"/>
            <a:ext cx="1143000" cy="16459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1247" y="4507992"/>
            <a:ext cx="1965960" cy="16459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855464"/>
            <a:ext cx="2788920" cy="16459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07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7C3AED"/>
                </a:solidFill>
                <a:latin typeface="Arial"/>
              </a:rPr>
              <a:t>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5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45352" y="1371600"/>
            <a:ext cx="5394960" cy="10972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10B981"/>
                </a:solidFill>
                <a:latin typeface="Arial"/>
              </a:rPr>
              <a:t>Decision lens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Use the idea to support a real stakeholder decision.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56248" y="4160520"/>
            <a:ext cx="114300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56248" y="4507992"/>
            <a:ext cx="196596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56248" y="4855464"/>
            <a:ext cx="278892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222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22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10B981"/>
                </a:solidFill>
                <a:latin typeface="Arial"/>
              </a:rPr>
              <a:t>✓</a:t>
            </a:r>
          </a:p>
        </p:txBody>
      </p:sp>
    </p:spTree>
  </p:cSld>
  <p:clrMapOvr>
    <a:masterClrMapping/>
  </p:clrMapOvr>
  <p:transition spd="fast">
    <p:fade/>
  </p:transition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rial"/>
              </a:rPr>
              <a:t>DECISION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Model QA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115</a:t>
            </a:r>
          </a:p>
        </p:txBody>
      </p:sp>
      <p:sp>
        <p:nvSpPr>
          <p:cNvPr id="7" name="Oval 6"/>
          <p:cNvSpPr/>
          <p:nvPr/>
        </p:nvSpPr>
        <p:spPr>
          <a:xfrm>
            <a:off x="658368" y="1325880"/>
            <a:ext cx="658368" cy="65836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527048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08760" y="1280160"/>
            <a:ext cx="996696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83080" y="1408176"/>
            <a:ext cx="2514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F6FEB"/>
                </a:solidFill>
                <a:latin typeface="Arial"/>
              </a:rPr>
              <a:t>Frame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399032"/>
            <a:ext cx="6812280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Check uniqueness, referential integrity, cardinality, filter paths, totals and refresh behavior before visualization.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2468880"/>
            <a:ext cx="658368" cy="65836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670048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08760" y="2423160"/>
            <a:ext cx="996696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83080" y="2551176"/>
            <a:ext cx="2514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0B981"/>
                </a:solidFill>
                <a:latin typeface="Arial"/>
              </a:rPr>
              <a:t>Inspect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2542032"/>
            <a:ext cx="6812280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Use the idea to support a real stakeholder decision.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611880"/>
            <a:ext cx="658368" cy="658368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813048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08760" y="3566160"/>
            <a:ext cx="996696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83080" y="3694176"/>
            <a:ext cx="2514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7C3AED"/>
                </a:solidFill>
                <a:latin typeface="Arial"/>
              </a:rPr>
              <a:t>Test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51960" y="3685032"/>
            <a:ext cx="6812280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Check the result under a second filter or scenario.</a:t>
            </a:r>
          </a:p>
        </p:txBody>
      </p:sp>
      <p:sp>
        <p:nvSpPr>
          <p:cNvPr id="22" name="Oval 21"/>
          <p:cNvSpPr/>
          <p:nvPr/>
        </p:nvSpPr>
        <p:spPr>
          <a:xfrm>
            <a:off x="658368" y="4754880"/>
            <a:ext cx="658368" cy="658368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4956048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508760" y="4709160"/>
            <a:ext cx="996696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83080" y="4837176"/>
            <a:ext cx="2514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  <a:latin typeface="Arial"/>
              </a:rPr>
              <a:t>Communicate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51960" y="4828032"/>
            <a:ext cx="6812280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State finding, evidence, limitation and action.</a:t>
            </a:r>
          </a:p>
        </p:txBody>
      </p:sp>
    </p:spTree>
  </p:cSld>
  <p:clrMapOvr>
    <a:masterClrMapping/>
  </p:clrMapOvr>
  <p:transition spd="fast">
    <p:fade/>
  </p:transition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HANDS-ON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Lab 7 · Model a Star Schema and Date Dimension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25880"/>
            <a:ext cx="2971800" cy="4498848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64208"/>
            <a:ext cx="23774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Arial"/>
              </a:rPr>
              <a:t>ADVANCED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2423160" cy="1280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6800" b="1">
                <a:solidFill>
                  <a:srgbClr val="FFFFFF"/>
                </a:solidFill>
                <a:latin typeface="Arial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160520"/>
            <a:ext cx="242316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CBD5E1"/>
                </a:solidFill>
                <a:latin typeface="Arial"/>
              </a:rPr>
              <a:t>LO5 · K5 · A5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67328" y="1325880"/>
            <a:ext cx="7754112" cy="1225296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67328" y="1325880"/>
            <a:ext cx="82296" cy="1225296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69080" y="1490472"/>
            <a:ext cx="157276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1481328"/>
            <a:ext cx="5468112" cy="6949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rial"/>
              </a:rPr>
              <a:t>A semantic model with fact/dimension relationships and a marked date table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67328" y="2825496"/>
            <a:ext cx="7754112" cy="1225296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67328" y="2825496"/>
            <a:ext cx="82296" cy="1225296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9080" y="2990088"/>
            <a:ext cx="157276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FILES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2980944"/>
            <a:ext cx="5468112" cy="6949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rial"/>
              </a:rPr>
              <a:t>Star_Schema.xlsx · starter.pbix · README.md/PDF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67328" y="4325112"/>
            <a:ext cx="7754112" cy="1225296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767328" y="4325112"/>
            <a:ext cx="82296" cy="1225296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69080" y="4489703"/>
            <a:ext cx="157276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PASS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23560" y="4480559"/>
            <a:ext cx="5468112" cy="6949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rial"/>
              </a:rPr>
              <a:t>Relationships use correct keys/cardinality; filters flow predictably; model ambiguity is zero.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67328" y="5513832"/>
            <a:ext cx="7754112" cy="38404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05072" y="5614416"/>
            <a:ext cx="960120" cy="14630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7C3AED"/>
                </a:solidFill>
                <a:latin typeface="Arial"/>
              </a:rPr>
              <a:t>PROCEDURE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74920" y="5577840"/>
            <a:ext cx="53949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Arial"/>
              </a:rPr>
              <a:t>Learner Guide + lab README</a:t>
            </a:r>
          </a:p>
        </p:txBody>
      </p:sp>
    </p:spTree>
  </p:cSld>
  <p:clrMapOvr>
    <a:masterClrMapping/>
  </p:clrMapOvr>
  <p:transition spd="fast">
    <p:fade/>
  </p:transition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828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  <a:latin typeface="Arial"/>
              </a:rPr>
              <a:t>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96528" y="457200"/>
            <a:ext cx="2560320" cy="19202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600" b="1">
                <a:solidFill>
                  <a:srgbClr val="1E293B"/>
                </a:solidFill>
                <a:latin typeface="Arial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38528"/>
            <a:ext cx="9875520" cy="12618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Analyze Data with DAX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730752"/>
            <a:ext cx="54864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93C5FD"/>
                </a:solidFill>
                <a:latin typeface="Arial"/>
              </a:rPr>
              <a:t>A6 · LO6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599432"/>
            <a:ext cx="859536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CBD5E1"/>
                </a:solidFill>
                <a:latin typeface="Arial"/>
              </a:rPr>
              <a:t>Concepts on slides · detailed procedures in the Learner Guide and lab folders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117</a:t>
            </a:r>
          </a:p>
        </p:txBody>
      </p:sp>
    </p:spTree>
  </p:cSld>
  <p:clrMapOvr>
    <a:masterClrMapping/>
  </p:clrMapOvr>
  <p:transition spd="fast">
    <p:push dir="l"/>
  </p:transition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DAX purpose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371600"/>
            <a:ext cx="5394960" cy="10972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F59E0B"/>
                </a:solidFill>
                <a:latin typeface="Arial"/>
              </a:rPr>
              <a:t>Core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DAX defines reusable calculations over a semantic model.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7" y="4160520"/>
            <a:ext cx="1143000" cy="16459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1247" y="4507992"/>
            <a:ext cx="1965960" cy="16459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855464"/>
            <a:ext cx="2788920" cy="16459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07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59E0B"/>
                </a:solidFill>
                <a:latin typeface="Arial"/>
              </a:rPr>
              <a:t>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5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45352" y="1371600"/>
            <a:ext cx="5394960" cy="10972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10B981"/>
                </a:solidFill>
                <a:latin typeface="Arial"/>
              </a:rPr>
              <a:t>Decision lens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it is not a replacement for data cleaning.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56248" y="4160520"/>
            <a:ext cx="114300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56248" y="4507992"/>
            <a:ext cx="196596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56248" y="4855464"/>
            <a:ext cx="278892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222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22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10B981"/>
                </a:solidFill>
                <a:latin typeface="Arial"/>
              </a:rPr>
              <a:t>✓</a:t>
            </a:r>
          </a:p>
        </p:txBody>
      </p:sp>
    </p:spTree>
  </p:cSld>
  <p:clrMapOvr>
    <a:masterClrMapping/>
  </p:clrMapOvr>
  <p:transition spd="fast">
    <p:fade/>
  </p:transition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CONCEPT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Formula syntax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119</a:t>
            </a:r>
          </a:p>
        </p:txBody>
      </p:sp>
      <p:sp>
        <p:nvSpPr>
          <p:cNvPr id="7" name="Oval 6"/>
          <p:cNvSpPr/>
          <p:nvPr/>
        </p:nvSpPr>
        <p:spPr>
          <a:xfrm>
            <a:off x="5029200" y="2542032"/>
            <a:ext cx="2139696" cy="182880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84648" y="3127248"/>
            <a:ext cx="1828800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DECISION
READY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17320"/>
            <a:ext cx="27432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417320"/>
            <a:ext cx="73152" cy="128016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600200"/>
            <a:ext cx="2240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QUESTION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920240"/>
            <a:ext cx="22402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A calculation has a name, expression, functions, operators and references to tables, columns or measures.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337560" y="2057400"/>
            <a:ext cx="1691640" cy="1399032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851392" y="1417320"/>
            <a:ext cx="27432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51392" y="1417320"/>
            <a:ext cx="73152" cy="128016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9992" y="1600200"/>
            <a:ext cx="2240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CONTEXT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1920240"/>
            <a:ext cx="22402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Use the idea to support a real stakeholder decision.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7168896" y="2057400"/>
            <a:ext cx="1682496" cy="1399032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94360" y="4160520"/>
            <a:ext cx="27432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4360" y="4160520"/>
            <a:ext cx="73152" cy="128016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343400"/>
            <a:ext cx="2240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663440"/>
            <a:ext cx="22402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Validate grain, filters and definitions.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3337560" y="3456432"/>
            <a:ext cx="1691640" cy="1344168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851392" y="4160520"/>
            <a:ext cx="27432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51392" y="4160520"/>
            <a:ext cx="73152" cy="128016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79992" y="4343400"/>
            <a:ext cx="2240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rial"/>
              </a:rPr>
              <a:t>HANDOFF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9992" y="4663440"/>
            <a:ext cx="22402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State evidence, limitation, owner and next action.</a:t>
            </a:r>
          </a:p>
        </p:txBody>
      </p:sp>
      <p:cxnSp>
        <p:nvCxnSpPr>
          <p:cNvPr id="28" name="Connector 27"/>
          <p:cNvCxnSpPr/>
          <p:nvPr/>
        </p:nvCxnSpPr>
        <p:spPr>
          <a:xfrm flipH="1" flipV="1">
            <a:off x="7168896" y="3456432"/>
            <a:ext cx="1682496" cy="1344168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fast">
    <p:fade/>
  </p:transition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WHY IT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Reference rules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444752"/>
            <a:ext cx="11000232" cy="2907792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91640"/>
            <a:ext cx="91440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5000" b="1">
                <a:solidFill>
                  <a:srgbClr val="10B981"/>
                </a:solidFill>
                <a:latin typeface="Arial"/>
              </a:rPr>
              <a:t>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" y="1965960"/>
            <a:ext cx="9738360" cy="1417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Columns require table context.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85032"/>
            <a:ext cx="932688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800" b="0">
                <a:solidFill>
                  <a:srgbClr val="E2E8F0"/>
                </a:solidFill>
                <a:latin typeface="Arial"/>
              </a:rPr>
              <a:t>measures should be referenced by measure name to preserve reusable logic.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645152"/>
            <a:ext cx="3566160" cy="107899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4855464"/>
            <a:ext cx="9144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QUESTION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28216" y="4800600"/>
            <a:ext cx="2212848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rial"/>
              </a:rPr>
              <a:t>What must be decided?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59" y="4645152"/>
            <a:ext cx="3566160" cy="107899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81727" y="4855464"/>
            <a:ext cx="9144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50407" y="4800600"/>
            <a:ext cx="2212848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rial"/>
              </a:rPr>
              <a:t>What supports the claim?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02752" y="4645152"/>
            <a:ext cx="3566160" cy="107899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0" y="4855464"/>
            <a:ext cx="9144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ACTION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4800600"/>
            <a:ext cx="2212848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rial"/>
              </a:rPr>
              <a:t>Who acts next?</a:t>
            </a:r>
          </a:p>
        </p:txBody>
      </p:sp>
    </p:spTree>
  </p:cSld>
  <p:clrMapOvr>
    <a:masterClrMapping/>
  </p:clrMapOvr>
  <p:transition spd="fast">
    <p:fade/>
  </p:transition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Data types and operators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53312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353312"/>
            <a:ext cx="82296" cy="20299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6384" y="1664208"/>
            <a:ext cx="502920" cy="50292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78308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609344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What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39696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Type compatibility controls comparison, arithmetic and blank handling.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353312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1344" y="1353312"/>
            <a:ext cx="82296" cy="202996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37376" y="1664208"/>
            <a:ext cx="502920" cy="50292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178308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14031" y="1609344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Why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2139696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Use the idea to support a real stakeholder decision.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0352" y="3657600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0352" y="3657600"/>
            <a:ext cx="82296" cy="202996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6384" y="3968496"/>
            <a:ext cx="502920" cy="50292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08736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913632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443984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Use a defined metric, source and filter state.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1344" y="3657600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1344" y="3657600"/>
            <a:ext cx="82296" cy="202996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37376" y="3968496"/>
            <a:ext cx="502920" cy="502920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37376" y="408736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4031" y="3913632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Action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4443984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Translate the finding into an owner and next step.</a:t>
            </a:r>
          </a:p>
        </p:txBody>
      </p:sp>
    </p:spTree>
  </p:cSld>
  <p:clrMapOvr>
    <a:masterClrMapping/>
  </p:clrMapOvr>
  <p:transition spd="fast">
    <p:fade/>
  </p:transition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TOPIC 6 · CONSOLIDATED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Row context · Filter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371600"/>
            <a:ext cx="5394960" cy="10972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7C3AED"/>
                </a:solidFill>
                <a:latin typeface="Arial"/>
              </a:rPr>
              <a:t>Row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Calculated columns and iterators evaluate one row at a time.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7" y="4160520"/>
            <a:ext cx="1143000" cy="16459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1247" y="4507992"/>
            <a:ext cx="1965960" cy="16459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855464"/>
            <a:ext cx="2788920" cy="16459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07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7C3AED"/>
                </a:solidFill>
                <a:latin typeface="Arial"/>
              </a:rPr>
              <a:t>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5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45352" y="1371600"/>
            <a:ext cx="5394960" cy="10972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10B981"/>
                </a:solidFill>
                <a:latin typeface="Arial"/>
              </a:rPr>
              <a:t>Filter context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Visual axes, slicers, filters and CALCULATE define the subset a measure evaluates.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56248" y="4160520"/>
            <a:ext cx="114300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56248" y="4507992"/>
            <a:ext cx="196596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56248" y="4855464"/>
            <a:ext cx="278892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222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22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10B981"/>
                </a:solidFill>
                <a:latin typeface="Arial"/>
              </a:rPr>
              <a:t>✓</a:t>
            </a:r>
          </a:p>
        </p:txBody>
      </p:sp>
    </p:spTree>
  </p:cSld>
  <p:clrMapOvr>
    <a:masterClrMapping/>
  </p:clrMapOvr>
  <p:transition spd="fast">
    <p:fade/>
  </p:transition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CONCEPT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CALCULATE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123</a:t>
            </a:r>
          </a:p>
        </p:txBody>
      </p:sp>
      <p:sp>
        <p:nvSpPr>
          <p:cNvPr id="7" name="Oval 6"/>
          <p:cNvSpPr/>
          <p:nvPr/>
        </p:nvSpPr>
        <p:spPr>
          <a:xfrm>
            <a:off x="5029200" y="2542032"/>
            <a:ext cx="2139696" cy="182880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84648" y="3127248"/>
            <a:ext cx="1828800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DECISION
READY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17320"/>
            <a:ext cx="27432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417320"/>
            <a:ext cx="73152" cy="128016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600200"/>
            <a:ext cx="2240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QUESTION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920240"/>
            <a:ext cx="22402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CALCULATE evaluates an expression under modified filter context and is central to analytical DAX.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337560" y="2057400"/>
            <a:ext cx="1691640" cy="1399032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851392" y="1417320"/>
            <a:ext cx="27432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51392" y="1417320"/>
            <a:ext cx="73152" cy="128016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9992" y="1600200"/>
            <a:ext cx="2240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CONTEXT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1920240"/>
            <a:ext cx="22402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Use the idea to support a real stakeholder decision.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7168896" y="2057400"/>
            <a:ext cx="1682496" cy="1399032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94360" y="4160520"/>
            <a:ext cx="27432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4360" y="4160520"/>
            <a:ext cx="73152" cy="128016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343400"/>
            <a:ext cx="2240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663440"/>
            <a:ext cx="22402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Validate grain, filters and definitions.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3337560" y="3456432"/>
            <a:ext cx="1691640" cy="1344168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851392" y="4160520"/>
            <a:ext cx="27432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51392" y="4160520"/>
            <a:ext cx="73152" cy="128016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79992" y="4343400"/>
            <a:ext cx="2240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rial"/>
              </a:rPr>
              <a:t>HANDOFF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9992" y="4663440"/>
            <a:ext cx="22402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State evidence, limitation, owner and next action.</a:t>
            </a:r>
          </a:p>
        </p:txBody>
      </p:sp>
      <p:cxnSp>
        <p:nvCxnSpPr>
          <p:cNvPr id="28" name="Connector 27"/>
          <p:cNvCxnSpPr/>
          <p:nvPr/>
        </p:nvCxnSpPr>
        <p:spPr>
          <a:xfrm flipH="1" flipV="1">
            <a:off x="7168896" y="3456432"/>
            <a:ext cx="1682496" cy="1344168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fast">
    <p:fade/>
  </p:transition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Variables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53312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353312"/>
            <a:ext cx="82296" cy="20299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6384" y="1664208"/>
            <a:ext cx="502920" cy="50292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78308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609344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What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39696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VAR and RETURN improve readability, avoid repeated evaluation and simplify debugging.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353312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1344" y="1353312"/>
            <a:ext cx="82296" cy="202996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37376" y="1664208"/>
            <a:ext cx="502920" cy="50292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178308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14031" y="1609344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Why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2139696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Use the idea to support a real stakeholder decision.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0352" y="3657600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0352" y="3657600"/>
            <a:ext cx="82296" cy="202996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6384" y="3968496"/>
            <a:ext cx="502920" cy="50292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08736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913632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443984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Use a defined metric, source and filter state.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1344" y="3657600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1344" y="3657600"/>
            <a:ext cx="82296" cy="202996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37376" y="3968496"/>
            <a:ext cx="502920" cy="502920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37376" y="408736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4031" y="3913632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Action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4443984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Translate the finding into an owner and next step.</a:t>
            </a:r>
          </a:p>
        </p:txBody>
      </p:sp>
    </p:spTree>
  </p:cSld>
  <p:clrMapOvr>
    <a:masterClrMapping/>
  </p:clrMapOvr>
  <p:transition spd="fast">
    <p:fade/>
  </p:transition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rial"/>
              </a:rPr>
              <a:t>DECISION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Implicit and explicit measures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125</a:t>
            </a:r>
          </a:p>
        </p:txBody>
      </p:sp>
      <p:sp>
        <p:nvSpPr>
          <p:cNvPr id="7" name="Oval 6"/>
          <p:cNvSpPr/>
          <p:nvPr/>
        </p:nvSpPr>
        <p:spPr>
          <a:xfrm>
            <a:off x="658368" y="1325880"/>
            <a:ext cx="658368" cy="65836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527048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08760" y="1280160"/>
            <a:ext cx="996696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83080" y="1408176"/>
            <a:ext cx="2514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F6FEB"/>
                </a:solidFill>
                <a:latin typeface="Arial"/>
              </a:rPr>
              <a:t>Frame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399032"/>
            <a:ext cx="6812280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Explicit measures centralize definitions, formatting and governance.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2468880"/>
            <a:ext cx="658368" cy="65836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670048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08760" y="2423160"/>
            <a:ext cx="996696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83080" y="2551176"/>
            <a:ext cx="2514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0B981"/>
                </a:solidFill>
                <a:latin typeface="Arial"/>
              </a:rPr>
              <a:t>Inspect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2542032"/>
            <a:ext cx="6812280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Use the idea to support a real stakeholder decision.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611880"/>
            <a:ext cx="658368" cy="658368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813048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08760" y="3566160"/>
            <a:ext cx="996696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83080" y="3694176"/>
            <a:ext cx="2514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7C3AED"/>
                </a:solidFill>
                <a:latin typeface="Arial"/>
              </a:rPr>
              <a:t>Test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51960" y="3685032"/>
            <a:ext cx="6812280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Check the result under a second filter or scenario.</a:t>
            </a:r>
          </a:p>
        </p:txBody>
      </p:sp>
      <p:sp>
        <p:nvSpPr>
          <p:cNvPr id="22" name="Oval 21"/>
          <p:cNvSpPr/>
          <p:nvPr/>
        </p:nvSpPr>
        <p:spPr>
          <a:xfrm>
            <a:off x="658368" y="4754880"/>
            <a:ext cx="658368" cy="658368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4956048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508760" y="4709160"/>
            <a:ext cx="996696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83080" y="4837176"/>
            <a:ext cx="2514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  <a:latin typeface="Arial"/>
              </a:rPr>
              <a:t>Communicate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51960" y="4828032"/>
            <a:ext cx="6812280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State finding, evidence, limitation and action.</a:t>
            </a:r>
          </a:p>
        </p:txBody>
      </p:sp>
    </p:spTree>
  </p:cSld>
  <p:clrMapOvr>
    <a:masterClrMapping/>
  </p:clrMapOvr>
  <p:transition spd="fast">
    <p:fade/>
  </p:transition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Core measures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89888"/>
            <a:ext cx="3566160" cy="128016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Oval 9"/>
          <p:cNvSpPr/>
          <p:nvPr/>
        </p:nvSpPr>
        <p:spPr>
          <a:xfrm>
            <a:off x="704088" y="1627632"/>
            <a:ext cx="640080" cy="6400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Meaning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Start with additive Sales, Cost and Quantity, then derive Profit and Margin from governed measures.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" y="4736592"/>
            <a:ext cx="438912" cy="34747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572768" y="4736592"/>
            <a:ext cx="438912" cy="658368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249424" y="4736592"/>
            <a:ext cx="438912" cy="96012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9864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1F6FEB"/>
                </a:solidFill>
                <a:latin typeface="Arial"/>
              </a:rPr>
              <a:t>SIGNAL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3400" y="1389888"/>
            <a:ext cx="3566160" cy="128016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9943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Oval 20"/>
          <p:cNvSpPr/>
          <p:nvPr/>
        </p:nvSpPr>
        <p:spPr>
          <a:xfrm>
            <a:off x="4544568" y="1627632"/>
            <a:ext cx="640080" cy="6400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4456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028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Decision use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028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Use the idea to support a real stakeholder decision.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36592" y="4736592"/>
            <a:ext cx="438912" cy="34747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13248" y="4736592"/>
            <a:ext cx="438912" cy="65836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089904" y="4736592"/>
            <a:ext cx="438912" cy="96012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3912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10B981"/>
                </a:solidFill>
                <a:latin typeface="Arial"/>
              </a:rPr>
              <a:t>SIGNAL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388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83880" y="1389888"/>
            <a:ext cx="3566160" cy="128016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3991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Oval 31"/>
          <p:cNvSpPr/>
          <p:nvPr/>
        </p:nvSpPr>
        <p:spPr>
          <a:xfrm>
            <a:off x="8385048" y="1627632"/>
            <a:ext cx="640080" cy="64008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8504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3076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Quality check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3076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Confirm grain, filter context and whether the display could be misread.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77072" y="4736592"/>
            <a:ext cx="438912" cy="34747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253728" y="4736592"/>
            <a:ext cx="438912" cy="658368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930384" y="4736592"/>
            <a:ext cx="438912" cy="9601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7960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7C3AED"/>
                </a:solidFill>
                <a:latin typeface="Arial"/>
              </a:rPr>
              <a:t>SIGNAL</a:t>
            </a:r>
          </a:p>
        </p:txBody>
      </p:sp>
    </p:spTree>
  </p:cSld>
  <p:clrMapOvr>
    <a:masterClrMapping/>
  </p:clrMapOvr>
  <p:transition spd="fast">
    <p:fade/>
  </p:transition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Safe division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371600"/>
            <a:ext cx="5394960" cy="10972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10B981"/>
                </a:solidFill>
                <a:latin typeface="Arial"/>
              </a:rPr>
              <a:t>Core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DIVIDE handles zero or blank denominators more safely than the division operator.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7" y="4160520"/>
            <a:ext cx="114300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1247" y="4507992"/>
            <a:ext cx="196596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855464"/>
            <a:ext cx="278892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07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10B981"/>
                </a:solidFill>
                <a:latin typeface="Arial"/>
              </a:rPr>
              <a:t>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5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45352" y="1371600"/>
            <a:ext cx="5394960" cy="10972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7C3AED"/>
                </a:solidFill>
                <a:latin typeface="Arial"/>
              </a:rPr>
              <a:t>Decision lens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Use the idea to support a real stakeholder decision.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56248" y="4160520"/>
            <a:ext cx="1143000" cy="16459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56248" y="4507992"/>
            <a:ext cx="1965960" cy="16459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56248" y="4855464"/>
            <a:ext cx="2788920" cy="16459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222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22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7C3AED"/>
                </a:solidFill>
                <a:latin typeface="Arial"/>
              </a:rPr>
              <a:t>✓</a:t>
            </a:r>
          </a:p>
        </p:txBody>
      </p:sp>
    </p:spTree>
  </p:cSld>
  <p:clrMapOvr>
    <a:masterClrMapping/>
  </p:clrMapOvr>
  <p:transition spd="fast">
    <p:fade/>
  </p:transition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EDITABLE POWERPOINT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Share of total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128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371600"/>
          <a:ext cx="7543800" cy="42245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458200" y="1371600"/>
            <a:ext cx="3063240" cy="422452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9952" y="1700784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7C3AED"/>
                </a:solidFill>
                <a:latin typeface="Arial"/>
              </a:rPr>
              <a:t>WHAT THE DATA SHOWS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59952" y="2176272"/>
            <a:ext cx="2432304" cy="2057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Use part-to-whole only when the total is meaningful and categories are few.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59952" y="4800600"/>
            <a:ext cx="24231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rial"/>
              </a:rPr>
              <a:t>Chart is native and editable in PowerPoint.</a:t>
            </a:r>
          </a:p>
        </p:txBody>
      </p:sp>
    </p:spTree>
  </p:cSld>
  <p:clrMapOvr>
    <a:masterClrMapping/>
  </p:clrMapOvr>
  <p:transition spd="fast">
    <p:fade/>
  </p:transition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Date 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129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371600"/>
            <a:ext cx="5394960" cy="10972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F59E0B"/>
                </a:solidFill>
                <a:latin typeface="Arial"/>
              </a:rPr>
              <a:t>Core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A marked date table with continuous dates underpins consistent time calculations.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7" y="4160520"/>
            <a:ext cx="1143000" cy="16459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1247" y="4507992"/>
            <a:ext cx="1965960" cy="16459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855464"/>
            <a:ext cx="2788920" cy="16459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07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59E0B"/>
                </a:solidFill>
                <a:latin typeface="Arial"/>
              </a:rPr>
              <a:t>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5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45352" y="1371600"/>
            <a:ext cx="5394960" cy="10972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10B981"/>
                </a:solidFill>
                <a:latin typeface="Arial"/>
              </a:rPr>
              <a:t>Decision lens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Use the idea to support a real stakeholder decision.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56248" y="4160520"/>
            <a:ext cx="114300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56248" y="4507992"/>
            <a:ext cx="196596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56248" y="4855464"/>
            <a:ext cx="278892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222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22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10B981"/>
                </a:solidFill>
                <a:latin typeface="Arial"/>
              </a:rPr>
              <a:t>✓</a:t>
            </a:r>
          </a:p>
        </p:txBody>
      </p:sp>
    </p:spTree>
  </p:cSld>
  <p:clrMapOvr>
    <a:masterClrMapping/>
  </p:clrMapOvr>
  <p:transition spd="fast">
    <p:fade/>
  </p:transition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EDITABLE POWERPOINT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Time intelligence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130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371600"/>
          <a:ext cx="7543800" cy="42245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458200" y="1371600"/>
            <a:ext cx="3063240" cy="422452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9952" y="1700784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1F6FEB"/>
                </a:solidFill>
                <a:latin typeface="Arial"/>
              </a:rPr>
              <a:t>WHAT THE DATA SHOWS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59952" y="2176272"/>
            <a:ext cx="2432304" cy="2057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Current-year growth is positive in every month; verify calendar logic before acting on the gap.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59952" y="4800600"/>
            <a:ext cx="24231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rial"/>
              </a:rPr>
              <a:t>Chart is native and editable in PowerPoint.</a:t>
            </a:r>
          </a:p>
        </p:txBody>
      </p:sp>
    </p:spTree>
  </p:cSld>
  <p:clrMapOvr>
    <a:masterClrMapping/>
  </p:clrMapOvr>
  <p:transition spd="fast">
    <p:fade/>
  </p:transition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EDITABLE POWERPOINT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TOPN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131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371600"/>
          <a:ext cx="7543800" cy="42245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458200" y="1371600"/>
            <a:ext cx="3063240" cy="422452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9952" y="1700784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10B981"/>
                </a:solidFill>
                <a:latin typeface="Arial"/>
              </a:rPr>
              <a:t>WHAT THE DATA SHOWS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59952" y="2176272"/>
            <a:ext cx="2432304" cy="2057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A common baseline and descending order make the ranking immediately comparable.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59952" y="4800600"/>
            <a:ext cx="24231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rial"/>
              </a:rPr>
              <a:t>Chart is native and editable in PowerPoint.</a:t>
            </a:r>
          </a:p>
        </p:txBody>
      </p:sp>
    </p:spTree>
  </p:cSld>
  <p:clrMapOvr>
    <a:masterClrMapping/>
  </p:clrMapOvr>
  <p:transition spd="fast">
    <p:fade/>
  </p:transition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Groups and bins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132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53312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353312"/>
            <a:ext cx="82296" cy="20299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6384" y="1664208"/>
            <a:ext cx="502920" cy="50292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78308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609344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What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39696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Grouping creates analytical segments.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353312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1344" y="1353312"/>
            <a:ext cx="82296" cy="202996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37376" y="1664208"/>
            <a:ext cx="502920" cy="50292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178308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14031" y="1609344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Why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2139696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bins reveal distribution at a chosen resolution.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0352" y="3657600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0352" y="3657600"/>
            <a:ext cx="82296" cy="202996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6384" y="3968496"/>
            <a:ext cx="502920" cy="50292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08736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913632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443984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Use a defined metric, source and filter state.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1344" y="3657600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1344" y="3657600"/>
            <a:ext cx="82296" cy="202996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37376" y="3968496"/>
            <a:ext cx="502920" cy="502920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37376" y="408736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4031" y="3913632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Action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4443984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Translate the finding into an owner and next step.</a:t>
            </a:r>
          </a:p>
        </p:txBody>
      </p:sp>
    </p:spTree>
  </p:cSld>
  <p:clrMapOvr>
    <a:masterClrMapping/>
  </p:clrMapOvr>
  <p:transition spd="fast">
    <p:fade/>
  </p:transition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Outliers and anomalies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133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371600"/>
            <a:ext cx="5394960" cy="10972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F59E0B"/>
                </a:solidFill>
                <a:latin typeface="Arial"/>
              </a:rPr>
              <a:t>Core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Flag exceptions using statistical context, then investigate causes rather than treating detection as explanation.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7" y="4160520"/>
            <a:ext cx="1143000" cy="16459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1247" y="4507992"/>
            <a:ext cx="1965960" cy="16459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855464"/>
            <a:ext cx="2788920" cy="16459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07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59E0B"/>
                </a:solidFill>
                <a:latin typeface="Arial"/>
              </a:rPr>
              <a:t>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5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45352" y="1371600"/>
            <a:ext cx="5394960" cy="10972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10B981"/>
                </a:solidFill>
                <a:latin typeface="Arial"/>
              </a:rPr>
              <a:t>Decision lens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Use the idea to support a real stakeholder decision.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56248" y="4160520"/>
            <a:ext cx="114300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56248" y="4507992"/>
            <a:ext cx="196596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56248" y="4855464"/>
            <a:ext cx="278892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222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22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10B981"/>
                </a:solidFill>
                <a:latin typeface="Arial"/>
              </a:rPr>
              <a:t>✓</a:t>
            </a:r>
          </a:p>
        </p:txBody>
      </p:sp>
    </p:spTree>
  </p:cSld>
  <p:clrMapOvr>
    <a:masterClrMapping/>
  </p:clrMapOvr>
  <p:transition spd="fast">
    <p:fade/>
  </p:transition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DECISION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Clustering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134</a:t>
            </a:r>
          </a:p>
        </p:txBody>
      </p:sp>
      <p:sp>
        <p:nvSpPr>
          <p:cNvPr id="7" name="Oval 6"/>
          <p:cNvSpPr/>
          <p:nvPr/>
        </p:nvSpPr>
        <p:spPr>
          <a:xfrm>
            <a:off x="658368" y="1325880"/>
            <a:ext cx="658368" cy="65836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527048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08760" y="1280160"/>
            <a:ext cx="996696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83080" y="1408176"/>
            <a:ext cx="2514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F6FEB"/>
                </a:solidFill>
                <a:latin typeface="Arial"/>
              </a:rPr>
              <a:t>Frame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399032"/>
            <a:ext cx="6812280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Clusters suggest similar records based on selected variables.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2468880"/>
            <a:ext cx="658368" cy="65836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670048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08760" y="2423160"/>
            <a:ext cx="996696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83080" y="2551176"/>
            <a:ext cx="2514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0B981"/>
                </a:solidFill>
                <a:latin typeface="Arial"/>
              </a:rPr>
              <a:t>Inspect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2542032"/>
            <a:ext cx="6812280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business review is needed to name and use them.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611880"/>
            <a:ext cx="658368" cy="658368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813048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08760" y="3566160"/>
            <a:ext cx="996696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83080" y="3694176"/>
            <a:ext cx="2514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7C3AED"/>
                </a:solidFill>
                <a:latin typeface="Arial"/>
              </a:rPr>
              <a:t>Test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51960" y="3685032"/>
            <a:ext cx="6812280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Check the result under a second filter or scenario.</a:t>
            </a:r>
          </a:p>
        </p:txBody>
      </p:sp>
      <p:sp>
        <p:nvSpPr>
          <p:cNvPr id="22" name="Oval 21"/>
          <p:cNvSpPr/>
          <p:nvPr/>
        </p:nvSpPr>
        <p:spPr>
          <a:xfrm>
            <a:off x="658368" y="4754880"/>
            <a:ext cx="658368" cy="658368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4956048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508760" y="4709160"/>
            <a:ext cx="996696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83080" y="4837176"/>
            <a:ext cx="2514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  <a:latin typeface="Arial"/>
              </a:rPr>
              <a:t>Communicate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51960" y="4828032"/>
            <a:ext cx="6812280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State finding, evidence, limitation and action.</a:t>
            </a:r>
          </a:p>
        </p:txBody>
      </p:sp>
    </p:spTree>
  </p:cSld>
  <p:clrMapOvr>
    <a:masterClrMapping/>
  </p:clrMapOvr>
  <p:transition spd="fast">
    <p:fade/>
  </p:transition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Analyze feature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135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371600"/>
            <a:ext cx="5394960" cy="10972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10B981"/>
                </a:solidFill>
                <a:latin typeface="Arial"/>
              </a:rPr>
              <a:t>Core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Automated increase/decrease explanations provide candidate drivers that require validation.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7" y="4160520"/>
            <a:ext cx="114300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1247" y="4507992"/>
            <a:ext cx="196596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855464"/>
            <a:ext cx="278892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07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10B981"/>
                </a:solidFill>
                <a:latin typeface="Arial"/>
              </a:rPr>
              <a:t>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5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45352" y="1371600"/>
            <a:ext cx="5394960" cy="10972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7C3AED"/>
                </a:solidFill>
                <a:latin typeface="Arial"/>
              </a:rPr>
              <a:t>Decision lens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Use the idea to support a real stakeholder decision.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56248" y="4160520"/>
            <a:ext cx="1143000" cy="16459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56248" y="4507992"/>
            <a:ext cx="1965960" cy="16459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56248" y="4855464"/>
            <a:ext cx="2788920" cy="16459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222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22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7C3AED"/>
                </a:solidFill>
                <a:latin typeface="Arial"/>
              </a:rPr>
              <a:t>✓</a:t>
            </a:r>
          </a:p>
        </p:txBody>
      </p:sp>
    </p:spTree>
  </p:cSld>
  <p:clrMapOvr>
    <a:masterClrMapping/>
  </p:clrMapOvr>
  <p:transition spd="fast">
    <p:fade/>
  </p:transition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What-if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136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89888"/>
            <a:ext cx="3566160" cy="128016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Oval 9"/>
          <p:cNvSpPr/>
          <p:nvPr/>
        </p:nvSpPr>
        <p:spPr>
          <a:xfrm>
            <a:off x="704088" y="1627632"/>
            <a:ext cx="640080" cy="6400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Meaning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Disconnected parameter tables let users test assumptions without changing actual data.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" y="4736592"/>
            <a:ext cx="438912" cy="34747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572768" y="4736592"/>
            <a:ext cx="438912" cy="658368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249424" y="4736592"/>
            <a:ext cx="438912" cy="96012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9864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1F6FEB"/>
                </a:solidFill>
                <a:latin typeface="Arial"/>
              </a:rPr>
              <a:t>SIGNAL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3400" y="1389888"/>
            <a:ext cx="3566160" cy="128016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9943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Oval 20"/>
          <p:cNvSpPr/>
          <p:nvPr/>
        </p:nvSpPr>
        <p:spPr>
          <a:xfrm>
            <a:off x="4544568" y="1627632"/>
            <a:ext cx="640080" cy="6400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4456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028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Decision use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028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Use the idea to support a real stakeholder decision.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36592" y="4736592"/>
            <a:ext cx="438912" cy="34747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13248" y="4736592"/>
            <a:ext cx="438912" cy="65836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089904" y="4736592"/>
            <a:ext cx="438912" cy="96012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3912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10B981"/>
                </a:solidFill>
                <a:latin typeface="Arial"/>
              </a:rPr>
              <a:t>SIGNAL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388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83880" y="1389888"/>
            <a:ext cx="3566160" cy="128016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3991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Oval 31"/>
          <p:cNvSpPr/>
          <p:nvPr/>
        </p:nvSpPr>
        <p:spPr>
          <a:xfrm>
            <a:off x="8385048" y="1627632"/>
            <a:ext cx="640080" cy="64008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8504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3076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Quality check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3076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Confirm grain, filter context and whether the display could be misread.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77072" y="4736592"/>
            <a:ext cx="438912" cy="34747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253728" y="4736592"/>
            <a:ext cx="438912" cy="658368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930384" y="4736592"/>
            <a:ext cx="438912" cy="9601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7960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7C3AED"/>
                </a:solidFill>
                <a:latin typeface="Arial"/>
              </a:rPr>
              <a:t>SIGNAL</a:t>
            </a:r>
          </a:p>
        </p:txBody>
      </p:sp>
    </p:spTree>
  </p:cSld>
  <p:clrMapOvr>
    <a:masterClrMapping/>
  </p:clrMapOvr>
  <p:transition spd="fast">
    <p:fade/>
  </p:transition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rial"/>
              </a:rPr>
              <a:t>EDITABLE POWERPOINT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Trend lines and forecasts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137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371600"/>
          <a:ext cx="7543800" cy="42245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458200" y="1371600"/>
            <a:ext cx="3063240" cy="422452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9952" y="1700784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  <a:latin typeface="Arial"/>
              </a:rPr>
              <a:t>WHAT THE DATA SHOWS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59952" y="2176272"/>
            <a:ext cx="2432304" cy="2057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The observed series rises; the forecast extends direction with uncertainty that still needs business context.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59952" y="4800600"/>
            <a:ext cx="24231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rial"/>
              </a:rPr>
              <a:t>Chart is native and editable in PowerPoint.</a:t>
            </a:r>
          </a:p>
        </p:txBody>
      </p:sp>
    </p:spTree>
  </p:cSld>
  <p:clrMapOvr>
    <a:masterClrMapping/>
  </p:clrMapOvr>
  <p:transition spd="fast">
    <p:fade/>
  </p:transition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CONCEPT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Align findings with SMEs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138</a:t>
            </a:r>
          </a:p>
        </p:txBody>
      </p:sp>
      <p:sp>
        <p:nvSpPr>
          <p:cNvPr id="7" name="Oval 6"/>
          <p:cNvSpPr/>
          <p:nvPr/>
        </p:nvSpPr>
        <p:spPr>
          <a:xfrm>
            <a:off x="5029200" y="2542032"/>
            <a:ext cx="2139696" cy="182880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84648" y="3127248"/>
            <a:ext cx="1828800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DECISION
READY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17320"/>
            <a:ext cx="27432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417320"/>
            <a:ext cx="73152" cy="128016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600200"/>
            <a:ext cx="2240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QUESTION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920240"/>
            <a:ext cx="22402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Translate measures into a claim, supporting evidence, limitations and an action for domain review.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337560" y="2057400"/>
            <a:ext cx="1691640" cy="1399032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851392" y="1417320"/>
            <a:ext cx="27432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51392" y="1417320"/>
            <a:ext cx="73152" cy="128016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9992" y="1600200"/>
            <a:ext cx="2240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CONTEXT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1920240"/>
            <a:ext cx="22402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Use the idea to support a real stakeholder decision.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7168896" y="2057400"/>
            <a:ext cx="1682496" cy="1399032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94360" y="4160520"/>
            <a:ext cx="27432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4360" y="4160520"/>
            <a:ext cx="73152" cy="128016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343400"/>
            <a:ext cx="2240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663440"/>
            <a:ext cx="22402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Validate grain, filters and definitions.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3337560" y="3456432"/>
            <a:ext cx="1691640" cy="1344168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851392" y="4160520"/>
            <a:ext cx="27432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51392" y="4160520"/>
            <a:ext cx="73152" cy="128016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79992" y="4343400"/>
            <a:ext cx="22402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rial"/>
              </a:rPr>
              <a:t>HANDOFF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9992" y="4663440"/>
            <a:ext cx="22402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State evidence, limitation, owner and next action.</a:t>
            </a:r>
          </a:p>
        </p:txBody>
      </p:sp>
      <p:cxnSp>
        <p:nvCxnSpPr>
          <p:cNvPr id="28" name="Connector 27"/>
          <p:cNvCxnSpPr/>
          <p:nvPr/>
        </p:nvCxnSpPr>
        <p:spPr>
          <a:xfrm flipH="1" flipV="1">
            <a:off x="7168896" y="3456432"/>
            <a:ext cx="1682496" cy="1344168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fast">
    <p:fade/>
  </p:transition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rial"/>
              </a:rPr>
              <a:t>HANDS-ON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Lab 8 · Create Core DAX Measures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139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25880"/>
            <a:ext cx="2971800" cy="4498848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64208"/>
            <a:ext cx="23774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59E0B"/>
                </a:solidFill>
                <a:latin typeface="Arial"/>
              </a:rPr>
              <a:t>ADVANCED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2423160" cy="1280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6800" b="1">
                <a:solidFill>
                  <a:srgbClr val="FFFFFF"/>
                </a:solidFill>
                <a:latin typeface="Arial"/>
              </a:rPr>
              <a:t>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160520"/>
            <a:ext cx="242316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CBD5E1"/>
                </a:solidFill>
                <a:latin typeface="Arial"/>
              </a:rPr>
              <a:t>LO6 · A6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67328" y="1325880"/>
            <a:ext cx="7754112" cy="1225296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67328" y="1325880"/>
            <a:ext cx="82296" cy="1225296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69080" y="1490472"/>
            <a:ext cx="157276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1481328"/>
            <a:ext cx="5468112" cy="6949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rial"/>
              </a:rPr>
              <a:t>Validated measures for Sales, Cost, Profit, Margin and share of total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67328" y="2825496"/>
            <a:ext cx="7754112" cy="1225296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67328" y="2825496"/>
            <a:ext cx="82296" cy="1225296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9080" y="2990088"/>
            <a:ext cx="157276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FILES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2980944"/>
            <a:ext cx="5468112" cy="6949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rial"/>
              </a:rPr>
              <a:t>Sales_Model.xlsx · starter.pbix · README.md/PDF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67328" y="4325112"/>
            <a:ext cx="7754112" cy="1225296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767328" y="4325112"/>
            <a:ext cx="82296" cy="1225296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69080" y="4489703"/>
            <a:ext cx="157276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PASS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23560" y="4480559"/>
            <a:ext cx="5468112" cy="6949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rial"/>
              </a:rPr>
              <a:t>Measures reconcile to workbook controls and respond correctly to filter context.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67328" y="5513832"/>
            <a:ext cx="7754112" cy="38404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05072" y="5614416"/>
            <a:ext cx="960120" cy="14630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F59E0B"/>
                </a:solidFill>
                <a:latin typeface="Arial"/>
              </a:rPr>
              <a:t>PROCEDURE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74920" y="5577840"/>
            <a:ext cx="53949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Arial"/>
              </a:rPr>
              <a:t>Learner Guide + lab README</a:t>
            </a:r>
          </a:p>
        </p:txBody>
      </p:sp>
    </p:spTree>
  </p:cSld>
  <p:clrMapOvr>
    <a:masterClrMapping/>
  </p:clrMapOvr>
  <p:transition spd="fast">
    <p:fade/>
  </p:transition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HANDS-ON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Lab 9 · Apply Time Intelligence and Scenario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140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25880"/>
            <a:ext cx="2971800" cy="4498848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64208"/>
            <a:ext cx="23774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ADVANCED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2423160" cy="1280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6800" b="1">
                <a:solidFill>
                  <a:srgbClr val="FFFFFF"/>
                </a:solidFill>
                <a:latin typeface="Arial"/>
              </a:rPr>
              <a:t>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160520"/>
            <a:ext cx="242316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CBD5E1"/>
                </a:solidFill>
                <a:latin typeface="Arial"/>
              </a:rPr>
              <a:t>LO6 · A6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67328" y="1325880"/>
            <a:ext cx="7754112" cy="1225296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67328" y="1325880"/>
            <a:ext cx="82296" cy="1225296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69080" y="1490472"/>
            <a:ext cx="157276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1481328"/>
            <a:ext cx="5468112" cy="6949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rial"/>
              </a:rPr>
              <a:t>YTD, prior-period, Top N and what-if analysis with decision commentary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67328" y="2825496"/>
            <a:ext cx="7754112" cy="1225296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67328" y="2825496"/>
            <a:ext cx="82296" cy="1225296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9080" y="2990088"/>
            <a:ext cx="157276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FILES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2980944"/>
            <a:ext cx="5468112" cy="6949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rial"/>
              </a:rPr>
              <a:t>Scenario_Analysis.xlsx · starter.pbix · README.md/PDF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67328" y="4325112"/>
            <a:ext cx="7754112" cy="1225296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767328" y="4325112"/>
            <a:ext cx="82296" cy="1225296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69080" y="4489703"/>
            <a:ext cx="157276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PASS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23560" y="4480559"/>
            <a:ext cx="5468112" cy="6949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rial"/>
              </a:rPr>
              <a:t>Date logic is valid; parameters change results; findings state business meaning and limitations.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67328" y="5513832"/>
            <a:ext cx="7754112" cy="38404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05072" y="5614416"/>
            <a:ext cx="960120" cy="14630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1F6FEB"/>
                </a:solidFill>
                <a:latin typeface="Arial"/>
              </a:rPr>
              <a:t>PROCEDURE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74920" y="5577840"/>
            <a:ext cx="53949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Arial"/>
              </a:rPr>
              <a:t>Learner Guide + lab README</a:t>
            </a:r>
          </a:p>
        </p:txBody>
      </p:sp>
    </p:spTree>
  </p:cSld>
  <p:clrMapOvr>
    <a:masterClrMapping/>
  </p:clrMapOvr>
  <p:transition spd="fast">
    <p:fade/>
  </p:transition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HANDS-ON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Lab 10 · Deliver the GlobalTech Sales Performance Cockpit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141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25880"/>
            <a:ext cx="2971800" cy="4498848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64208"/>
            <a:ext cx="23774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CAPSTONE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2423160" cy="1280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68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160520"/>
            <a:ext cx="242316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CBD5E1"/>
                </a:solidFill>
                <a:latin typeface="Arial"/>
              </a:rPr>
              <a:t>LO1–LO6 · K1–K5 · A1–A6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67328" y="1325880"/>
            <a:ext cx="7754112" cy="1225296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67328" y="1325880"/>
            <a:ext cx="82296" cy="1225296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69080" y="1490472"/>
            <a:ext cx="157276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1481328"/>
            <a:ext cx="5468112" cy="6949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rial"/>
              </a:rPr>
              <a:t>A stakeholder-ready PBIX report, dashboard evidence and QA checklist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67328" y="2825496"/>
            <a:ext cx="7754112" cy="1225296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67328" y="2825496"/>
            <a:ext cx="82296" cy="1225296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9080" y="2990088"/>
            <a:ext cx="157276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FILES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2980944"/>
            <a:ext cx="5468112" cy="6949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rial"/>
              </a:rPr>
              <a:t>GlobalTech_Capstone.xlsx · starter.pbix · README.md/PDF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67328" y="4325112"/>
            <a:ext cx="7754112" cy="1225296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767328" y="4325112"/>
            <a:ext cx="82296" cy="1225296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69080" y="4489703"/>
            <a:ext cx="157276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PASS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23560" y="4480559"/>
            <a:ext cx="5468112" cy="6949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rial"/>
              </a:rPr>
              <a:t>The solution meets all six outcomes, answers stakeholder questions and passes the evidence checklist.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67328" y="5513832"/>
            <a:ext cx="7754112" cy="38404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05072" y="5614416"/>
            <a:ext cx="960120" cy="14630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10B981"/>
                </a:solidFill>
                <a:latin typeface="Arial"/>
              </a:rPr>
              <a:t>PROCEDURE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74920" y="5577840"/>
            <a:ext cx="53949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Arial"/>
              </a:rPr>
              <a:t>Learner Guide + lab README</a:t>
            </a:r>
          </a:p>
        </p:txBody>
      </p:sp>
    </p:spTree>
  </p:cSld>
  <p:clrMapOvr>
    <a:masterClrMapping/>
  </p:clrMapOvr>
  <p:transition spd="fast">
    <p:fade/>
  </p:transition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CAPSTONE SCENARIO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Capstone · From Evidence to Action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142</a:t>
            </a:r>
          </a:p>
        </p:txBody>
      </p:sp>
      <p:pic>
        <p:nvPicPr>
          <p:cNvPr id="7" name="Picture 6" descr="capstone-review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760" y="1261872"/>
            <a:ext cx="7818120" cy="45262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30352" y="1261872"/>
            <a:ext cx="352044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1627632"/>
            <a:ext cx="27889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7C3AED"/>
                </a:solidFill>
                <a:latin typeface="Arial"/>
              </a:rPr>
              <a:t>DECISION MOMENT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148840"/>
            <a:ext cx="2697480" cy="2423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GlobalTech leaders need one defensible performance cockpit: prepare trustworthy data, model it clearly, calculate governed measures and communicate action.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5138928"/>
            <a:ext cx="274320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rial"/>
              </a:rPr>
              <a:t>Concept visual · validate every conclusion with the supplied data.</a:t>
            </a:r>
          </a:p>
        </p:txBody>
      </p:sp>
    </p:spTree>
  </p:cSld>
  <p:clrMapOvr>
    <a:masterClrMapping/>
  </p:clrMapOvr>
  <p:transition spd="fast">
    <p:fade/>
  </p:transition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059669"/>
                </a:solidFill>
                <a:latin typeface="Arial"/>
              </a:rPr>
              <a:t>VERIFY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Capstone Acceptance Gate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143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389888"/>
            <a:ext cx="10881360" cy="4462272"/>
          </a:xfrm>
          <a:prstGeom prst="roundRect">
            <a:avLst/>
          </a:prstGeom>
          <a:solidFill>
            <a:srgbClr val="ECFDF5"/>
          </a:solidFill>
          <a:ln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709928"/>
            <a:ext cx="45720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59669"/>
                </a:solidFill>
                <a:latin typeface="Arial"/>
              </a:rPr>
              <a:t>PASS THE EVIDENCE GATE</a:t>
            </a:r>
          </a:p>
        </p:txBody>
      </p:sp>
      <p:sp>
        <p:nvSpPr>
          <p:cNvPr id="9" name="Oval 8"/>
          <p:cNvSpPr/>
          <p:nvPr/>
        </p:nvSpPr>
        <p:spPr>
          <a:xfrm>
            <a:off x="960120" y="2286000"/>
            <a:ext cx="329184" cy="329184"/>
          </a:xfrm>
          <a:prstGeom prst="ellipse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350008"/>
            <a:ext cx="32918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2267712"/>
            <a:ext cx="923544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rial"/>
              </a:rPr>
              <a:t>Refresh succeeds and transformations are documented</a:t>
            </a:r>
          </a:p>
        </p:txBody>
      </p:sp>
      <p:sp>
        <p:nvSpPr>
          <p:cNvPr id="12" name="Oval 11"/>
          <p:cNvSpPr/>
          <p:nvPr/>
        </p:nvSpPr>
        <p:spPr>
          <a:xfrm>
            <a:off x="960120" y="2990088"/>
            <a:ext cx="329184" cy="329184"/>
          </a:xfrm>
          <a:prstGeom prst="ellipse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054096"/>
            <a:ext cx="32918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971800"/>
            <a:ext cx="923544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rial"/>
              </a:rPr>
              <a:t>Star schema and relationships pass integrity checks</a:t>
            </a:r>
          </a:p>
        </p:txBody>
      </p:sp>
      <p:sp>
        <p:nvSpPr>
          <p:cNvPr id="15" name="Oval 14"/>
          <p:cNvSpPr/>
          <p:nvPr/>
        </p:nvSpPr>
        <p:spPr>
          <a:xfrm>
            <a:off x="960120" y="3694176"/>
            <a:ext cx="329184" cy="329184"/>
          </a:xfrm>
          <a:prstGeom prst="ellipse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758184"/>
            <a:ext cx="32918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81328" y="3675888"/>
            <a:ext cx="923544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rial"/>
              </a:rPr>
              <a:t>DAX totals reconcile to Excel controls</a:t>
            </a:r>
          </a:p>
        </p:txBody>
      </p:sp>
      <p:sp>
        <p:nvSpPr>
          <p:cNvPr id="18" name="Oval 17"/>
          <p:cNvSpPr/>
          <p:nvPr/>
        </p:nvSpPr>
        <p:spPr>
          <a:xfrm>
            <a:off x="960120" y="4398264"/>
            <a:ext cx="329184" cy="329184"/>
          </a:xfrm>
          <a:prstGeom prst="ellipse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462272"/>
            <a:ext cx="32918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1328" y="4379976"/>
            <a:ext cx="923544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rial"/>
              </a:rPr>
              <a:t>Every visual answers a stakeholder question</a:t>
            </a:r>
          </a:p>
        </p:txBody>
      </p:sp>
      <p:sp>
        <p:nvSpPr>
          <p:cNvPr id="21" name="Oval 20"/>
          <p:cNvSpPr/>
          <p:nvPr/>
        </p:nvSpPr>
        <p:spPr>
          <a:xfrm>
            <a:off x="960120" y="5102352"/>
            <a:ext cx="329184" cy="329184"/>
          </a:xfrm>
          <a:prstGeom prst="ellipse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166360"/>
            <a:ext cx="32918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5084064"/>
            <a:ext cx="923544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rial"/>
              </a:rPr>
              <a:t>Interactions, accessibility and mobile layout are tested</a:t>
            </a:r>
          </a:p>
        </p:txBody>
      </p:sp>
    </p:spTree>
  </p:cSld>
  <p:clrMapOvr>
    <a:masterClrMapping/>
  </p:clrMapOvr>
  <p:transition spd="fast">
    <p:fade/>
  </p:transition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COURSE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What You Achieved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144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53312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353312"/>
            <a:ext cx="82296" cy="20299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6384" y="1664208"/>
            <a:ext cx="502920" cy="50292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78308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609344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LO1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39696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Perform data transformation techniques using Power BI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353312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1344" y="1353312"/>
            <a:ext cx="82296" cy="202996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37376" y="1664208"/>
            <a:ext cx="502920" cy="50292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178308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14031" y="1609344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LO2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2139696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Create data visualizations that portray patterns, trends and correlations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0352" y="3657600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0352" y="3657600"/>
            <a:ext cx="82296" cy="202996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6384" y="3968496"/>
            <a:ext cx="502920" cy="50292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08736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913632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LO3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443984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Develop dashboards and scorecards for decision monitoring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1344" y="3657600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1344" y="3657600"/>
            <a:ext cx="82296" cy="202996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37376" y="3968496"/>
            <a:ext cx="502920" cy="502920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37376" y="408736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4031" y="3913632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LO4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4443984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Create dynamic and interactive data visualizations</a:t>
            </a:r>
          </a:p>
        </p:txBody>
      </p:sp>
    </p:spTree>
  </p:cSld>
  <p:clrMapOvr>
    <a:masterClrMapping/>
  </p:clrMapOvr>
  <p:transition spd="fast">
    <p:fade/>
  </p:transition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COURSE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What You Achieved · Model and Analyze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145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371600"/>
            <a:ext cx="5394960" cy="10972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10B981"/>
                </a:solidFill>
                <a:latin typeface="Arial"/>
              </a:rPr>
              <a:t>LO5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Create a data model for strategic visualization and mapping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7" y="4160520"/>
            <a:ext cx="114300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1247" y="4507992"/>
            <a:ext cx="196596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855464"/>
            <a:ext cx="2788920" cy="16459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07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10B981"/>
                </a:solidFill>
                <a:latin typeface="Arial"/>
              </a:rPr>
              <a:t>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5352" y="137160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45352" y="1371600"/>
            <a:ext cx="5394960" cy="10972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1673352"/>
            <a:ext cx="4800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7C3AED"/>
                </a:solidFill>
                <a:latin typeface="Arial"/>
              </a:rPr>
              <a:t>LO6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2359152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Arial"/>
              </a:rPr>
              <a:t>Perform data analytics and queries with DAX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56248" y="4160520"/>
            <a:ext cx="1143000" cy="16459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56248" y="4507992"/>
            <a:ext cx="1965960" cy="16459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56248" y="4855464"/>
            <a:ext cx="2788920" cy="16459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222992" y="4096512"/>
            <a:ext cx="621792" cy="621792"/>
          </a:xfrm>
          <a:prstGeom prst="ellipse">
            <a:avLst/>
          </a:prstGeom>
          <a:solidFill>
            <a:srgbClr val="F1F5F9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22992" y="4288536"/>
            <a:ext cx="6217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7C3AED"/>
                </a:solidFill>
                <a:latin typeface="Arial"/>
              </a:rPr>
              <a:t>✓</a:t>
            </a:r>
          </a:p>
        </p:txBody>
      </p:sp>
    </p:spTree>
  </p:cSld>
  <p:clrMapOvr>
    <a:masterClrMapping/>
  </p:clrMapOvr>
  <p:transition spd="fast">
    <p:fade/>
  </p:transition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F6FEB"/>
                </a:solidFill>
                <a:latin typeface="Arial"/>
              </a:rPr>
              <a:t>LMS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Courseware and Assessment on the LMS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146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89888"/>
            <a:ext cx="3566160" cy="128016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Oval 9"/>
          <p:cNvSpPr/>
          <p:nvPr/>
        </p:nvSpPr>
        <p:spPr>
          <a:xfrm>
            <a:off x="704088" y="1627632"/>
            <a:ext cx="640080" cy="6400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Download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Slides, Learner Guide and lab materials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" y="4736592"/>
            <a:ext cx="438912" cy="34747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572768" y="4736592"/>
            <a:ext cx="438912" cy="658368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249424" y="4736592"/>
            <a:ext cx="438912" cy="96012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9864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1F6FEB"/>
                </a:solidFill>
                <a:latin typeface="Arial"/>
              </a:rPr>
              <a:t>SIGNAL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3400" y="1389888"/>
            <a:ext cx="3566160" cy="128016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9943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Oval 20"/>
          <p:cNvSpPr/>
          <p:nvPr/>
        </p:nvSpPr>
        <p:spPr>
          <a:xfrm>
            <a:off x="4544568" y="1627632"/>
            <a:ext cx="640080" cy="6400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4456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028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Complete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028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WA then Practical Performance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36592" y="4736592"/>
            <a:ext cx="438912" cy="34747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13248" y="4736592"/>
            <a:ext cx="438912" cy="65836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089904" y="4736592"/>
            <a:ext cx="438912" cy="96012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3912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10B981"/>
                </a:solidFill>
                <a:latin typeface="Arial"/>
              </a:rPr>
              <a:t>SIGNAL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388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83880" y="1389888"/>
            <a:ext cx="3566160" cy="128016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3991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Oval 31"/>
          <p:cNvSpPr/>
          <p:nvPr/>
        </p:nvSpPr>
        <p:spPr>
          <a:xfrm>
            <a:off x="8385048" y="1627632"/>
            <a:ext cx="640080" cy="64008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8504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3076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Submit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3076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Upload completed answers and evidence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77072" y="4736592"/>
            <a:ext cx="438912" cy="34747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253728" y="4736592"/>
            <a:ext cx="438912" cy="658368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930384" y="4736592"/>
            <a:ext cx="438912" cy="9601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7960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7C3AED"/>
                </a:solidFill>
                <a:latin typeface="Arial"/>
              </a:rPr>
              <a:t>SIGNAL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234440" y="5596128"/>
            <a:ext cx="9738360" cy="45720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481328" y="5705856"/>
            <a:ext cx="92354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6FEB"/>
                </a:solidFill>
                <a:latin typeface="Arial"/>
                <a:hlinkClick r:id="rId2"/>
              </a:rPr>
              <a:t>https://lms-tms.tertiaryinfotech.com/</a:t>
            </a:r>
          </a:p>
        </p:txBody>
      </p:sp>
    </p:spTree>
  </p:cSld>
  <p:clrMapOvr>
    <a:masterClrMapping/>
  </p:clrMapOvr>
  <p:transition spd="fast">
    <p:fade/>
  </p:transition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DC2626"/>
                </a:solidFill>
                <a:latin typeface="Arial"/>
              </a:rPr>
              <a:t>FINAL REMINDER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Assessment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147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89888"/>
            <a:ext cx="3566160" cy="128016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Oval 9"/>
          <p:cNvSpPr/>
          <p:nvPr/>
        </p:nvSpPr>
        <p:spPr>
          <a:xfrm>
            <a:off x="704088" y="1627632"/>
            <a:ext cx="640080" cy="6400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WA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5 open-ended knowledge questions · 60 min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" y="4736592"/>
            <a:ext cx="438912" cy="34747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572768" y="4736592"/>
            <a:ext cx="438912" cy="658368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249424" y="4736592"/>
            <a:ext cx="438912" cy="96012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9864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1F6FEB"/>
                </a:solidFill>
                <a:latin typeface="Arial"/>
              </a:rPr>
              <a:t>SIGNAL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3400" y="1389888"/>
            <a:ext cx="3566160" cy="128016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9943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Oval 20"/>
          <p:cNvSpPr/>
          <p:nvPr/>
        </p:nvSpPr>
        <p:spPr>
          <a:xfrm>
            <a:off x="4544568" y="1627632"/>
            <a:ext cx="640080" cy="6400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4456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028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028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5 applied tasks · 90 min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36592" y="4736592"/>
            <a:ext cx="438912" cy="34747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13248" y="4736592"/>
            <a:ext cx="438912" cy="65836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089904" y="4736592"/>
            <a:ext cx="438912" cy="96012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3912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10B981"/>
                </a:solidFill>
                <a:latin typeface="Arial"/>
              </a:rPr>
              <a:t>SIGNAL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3880" y="1389888"/>
            <a:ext cx="3566160" cy="44622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83880" y="1389888"/>
            <a:ext cx="3566160" cy="128016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39912" y="1682496"/>
            <a:ext cx="530352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Oval 31"/>
          <p:cNvSpPr/>
          <p:nvPr/>
        </p:nvSpPr>
        <p:spPr>
          <a:xfrm>
            <a:off x="8385048" y="1627632"/>
            <a:ext cx="640080" cy="64008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85048" y="1728216"/>
            <a:ext cx="6400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30768" y="2423160"/>
            <a:ext cx="30632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Submit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30768" y="3182112"/>
            <a:ext cx="30632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Assessment answers and evidence on the LMS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77072" y="4736592"/>
            <a:ext cx="438912" cy="34747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253728" y="4736592"/>
            <a:ext cx="438912" cy="658368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930384" y="4736592"/>
            <a:ext cx="438912" cy="9601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79608" y="4919472"/>
            <a:ext cx="6583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7C3AED"/>
                </a:solidFill>
                <a:latin typeface="Arial"/>
              </a:rPr>
              <a:t>SIGNAL</a:t>
            </a:r>
          </a:p>
        </p:txBody>
      </p:sp>
    </p:spTree>
  </p:cSld>
  <p:clrMapOvr>
    <a:masterClrMapping/>
  </p:clrMapOvr>
  <p:transition spd="fast">
    <p:fade/>
  </p:transition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Arial"/>
              </a:rPr>
              <a:t>FINAL REMINDER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Assessment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148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2029967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243584" y="1417320"/>
            <a:ext cx="640080" cy="6400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43584" y="1618488"/>
            <a:ext cx="640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267712"/>
            <a:ext cx="1700784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rial"/>
              </a:rPr>
              <a:t>TRAQOM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971800"/>
            <a:ext cx="1700784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0">
                <a:solidFill>
                  <a:srgbClr val="334155"/>
                </a:solidFill>
                <a:latin typeface="Arial"/>
              </a:rPr>
              <a:t>Scan the QR code on the LMS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78608" y="3337560"/>
            <a:ext cx="228600" cy="0"/>
          </a:xfrm>
          <a:prstGeom prst="line">
            <a:avLst/>
          </a:prstGeom>
          <a:ln w="19050">
            <a:solidFill>
              <a:srgbClr val="64748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07208" y="1828800"/>
            <a:ext cx="2029967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02151" y="1417320"/>
            <a:ext cx="640080" cy="6400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02151" y="1618488"/>
            <a:ext cx="640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2267712"/>
            <a:ext cx="1700784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rial"/>
              </a:rPr>
              <a:t>Attendance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71800" y="2971800"/>
            <a:ext cx="1700784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0">
                <a:solidFill>
                  <a:srgbClr val="334155"/>
                </a:solidFill>
                <a:latin typeface="Arial"/>
              </a:rPr>
              <a:t>Complete assessment digital attendance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837175" y="3337560"/>
            <a:ext cx="228600" cy="0"/>
          </a:xfrm>
          <a:prstGeom prst="line">
            <a:avLst/>
          </a:prstGeom>
          <a:ln w="19050">
            <a:solidFill>
              <a:srgbClr val="64748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065775" y="1828800"/>
            <a:ext cx="2029967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60719" y="1417320"/>
            <a:ext cx="640080" cy="64008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0719" y="1618488"/>
            <a:ext cx="640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30367" y="2267712"/>
            <a:ext cx="1700784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rial"/>
              </a:rPr>
              <a:t>Assessment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7" y="2971800"/>
            <a:ext cx="1700784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0">
                <a:solidFill>
                  <a:srgbClr val="334155"/>
                </a:solidFill>
                <a:latin typeface="Arial"/>
              </a:rPr>
              <a:t>Sit WA, then PP; open book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95743" y="3337560"/>
            <a:ext cx="228600" cy="0"/>
          </a:xfrm>
          <a:prstGeom prst="line">
            <a:avLst/>
          </a:prstGeom>
          <a:ln w="19050">
            <a:solidFill>
              <a:srgbClr val="64748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4344" y="1828800"/>
            <a:ext cx="2029967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19288" y="1417320"/>
            <a:ext cx="640080" cy="640080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19288" y="1618488"/>
            <a:ext cx="640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88936" y="2267712"/>
            <a:ext cx="1700784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rial"/>
              </a:rPr>
              <a:t>Submit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88936" y="2971800"/>
            <a:ext cx="1700784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0">
                <a:solidFill>
                  <a:srgbClr val="334155"/>
                </a:solidFill>
                <a:latin typeface="Arial"/>
              </a:rPr>
              <a:t>Upload answers on the LMS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354312" y="3337560"/>
            <a:ext cx="228600" cy="0"/>
          </a:xfrm>
          <a:prstGeom prst="line">
            <a:avLst/>
          </a:prstGeom>
          <a:ln w="19050">
            <a:solidFill>
              <a:srgbClr val="64748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582911" y="1828800"/>
            <a:ext cx="2029967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277855" y="1417320"/>
            <a:ext cx="640080" cy="6400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77855" y="1618488"/>
            <a:ext cx="640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47503" y="2267712"/>
            <a:ext cx="1700784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rial"/>
              </a:rPr>
              <a:t>Sign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47503" y="2971800"/>
            <a:ext cx="1700784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0">
                <a:solidFill>
                  <a:srgbClr val="334155"/>
                </a:solidFill>
                <a:latin typeface="Arial"/>
              </a:rPr>
              <a:t>Complete the Assessment Summary Record</a:t>
            </a:r>
          </a:p>
        </p:txBody>
      </p:sp>
    </p:spTree>
  </p:cSld>
  <p:clrMapOvr>
    <a:masterClrMapping/>
  </p:clrMapOvr>
  <p:transition spd="fast">
    <p:fade/>
  </p:transition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28600"/>
            <a:ext cx="7772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TRAQOM · SSG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521207"/>
            <a:ext cx="11064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149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353312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353312"/>
            <a:ext cx="82296" cy="20299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6384" y="1664208"/>
            <a:ext cx="502920" cy="50292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78308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609344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Assessment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39696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Complete the SSG assessment attendance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353312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1344" y="1353312"/>
            <a:ext cx="82296" cy="202996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37376" y="1664208"/>
            <a:ext cx="502920" cy="50292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178308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14031" y="1609344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TRAQOM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2139696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Scan the trainer-provided QR code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0352" y="3657600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0352" y="3657600"/>
            <a:ext cx="82296" cy="202996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6384" y="3968496"/>
            <a:ext cx="502920" cy="50292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08736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913632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Submit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443984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Confirm the attendance response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1344" y="3657600"/>
            <a:ext cx="541324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1344" y="3657600"/>
            <a:ext cx="82296" cy="202996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37376" y="3968496"/>
            <a:ext cx="502920" cy="502920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37376" y="408736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4031" y="3913632"/>
            <a:ext cx="4114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Record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4443984"/>
            <a:ext cx="4114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Then complete the Assessment Summary Record</a:t>
            </a:r>
          </a:p>
        </p:txBody>
      </p:sp>
    </p:spTree>
  </p:cSld>
  <p:clrMapOvr>
    <a:masterClrMapping/>
  </p:clrMapOvr>
  <p:transition spd="fast">
    <p:fade/>
  </p:transition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920240"/>
            <a:ext cx="1088136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907792"/>
            <a:ext cx="996696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800" b="0">
                <a:solidFill>
                  <a:srgbClr val="CBD5E1"/>
                </a:solidFill>
                <a:latin typeface="Arial"/>
              </a:rPr>
              <a:t>Turn evidence into a clear decision — and make the reasoning reviewable.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069080"/>
            <a:ext cx="996696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10B981"/>
                </a:solidFill>
                <a:latin typeface="Arial"/>
              </a:rPr>
              <a:t>enquiry@tertiaryinfotech.com · +65 6100 0613 · www.tertiarycourses.com.sg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647688"/>
            <a:ext cx="996696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Data Analytics and Visualization with Power BI · TGS-2020505444 · © 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647688"/>
            <a:ext cx="502920" cy="137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FFFFFF"/>
                </a:solidFill>
                <a:latin typeface="Arial"/>
              </a:rPr>
              <a:t>150</a:t>
            </a:r>
          </a:p>
        </p:txBody>
      </p:sp>
    </p:spTree>
  </p:cSld>
  <p:clrMapOvr>
    <a:masterClrMapping/>
  </p:clrMapOvr>
  <p:transition spd="fast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Analytics and Visualization with Power BI</dc:title>
  <dc:subject>WSQ TGS-2020505444</dc:subject>
  <dc:creator>Tertiary Infotech Academy Pte Ltd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
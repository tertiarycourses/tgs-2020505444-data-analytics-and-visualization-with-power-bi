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406" r:id="rId157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$k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</c:v>
                </c:pt>
                <c:pt idx="1">
                  <c:v>103</c:v>
                </c:pt>
                <c:pt idx="2">
                  <c:v>91</c:v>
                </c:pt>
                <c:pt idx="3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48</c:v>
                </c:pt>
                <c:pt idx="2">
                  <c:v>46</c:v>
                </c:pt>
                <c:pt idx="3">
                  <c:v>55</c:v>
                </c:pt>
                <c:pt idx="4">
                  <c:v>61</c:v>
                </c:pt>
                <c:pt idx="5">
                  <c:v>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</c:v>
                </c:pt>
                <c:pt idx="1">
                  <c:v>47</c:v>
                </c:pt>
                <c:pt idx="2">
                  <c:v>50</c:v>
                </c:pt>
                <c:pt idx="3">
                  <c:v>54</c:v>
                </c:pt>
                <c:pt idx="4">
                  <c:v>58</c:v>
                </c:pt>
                <c:pt idx="5">
                  <c:v>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Retail</c:v>
                </c:pt>
                <c:pt idx="2">
                  <c:v>Partner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31</c:v>
                </c:pt>
                <c:pt idx="2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49</c:v>
                </c:pt>
                <c:pt idx="2">
                  <c:v>67</c:v>
                </c:pt>
                <c:pt idx="3">
                  <c:v>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27</c:v>
                </c:pt>
                <c:pt idx="2">
                  <c:v>38</c:v>
                </c:pt>
                <c:pt idx="3">
                  <c:v>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Margin</c:v>
                </c:pt>
                <c:pt idx="2">
                  <c:v>Retention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83</c:v>
                </c:pt>
                <c:pt idx="2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Margin</c:v>
                </c:pt>
                <c:pt idx="2">
                  <c:v>Retention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Margin</c:v>
                </c:pt>
                <c:pt idx="2">
                  <c:v>Retention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</c:v>
                </c:pt>
                <c:pt idx="1">
                  <c:v>83</c:v>
                </c:pt>
                <c:pt idx="2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Revenue</c:v>
                </c:pt>
                <c:pt idx="1">
                  <c:v>Margin</c:v>
                </c:pt>
                <c:pt idx="2">
                  <c:v>Retention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14</c:v>
                </c:pt>
                <c:pt idx="3">
                  <c:v>7</c:v>
                </c:pt>
                <c:pt idx="4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48</c:v>
                </c:pt>
                <c:pt idx="2">
                  <c:v>46</c:v>
                </c:pt>
                <c:pt idx="3">
                  <c:v>55</c:v>
                </c:pt>
                <c:pt idx="4">
                  <c:v>61</c:v>
                </c:pt>
                <c:pt idx="5">
                  <c:v>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</c:v>
                </c:pt>
                <c:pt idx="1">
                  <c:v>47</c:v>
                </c:pt>
                <c:pt idx="2">
                  <c:v>50</c:v>
                </c:pt>
                <c:pt idx="3">
                  <c:v>54</c:v>
                </c:pt>
                <c:pt idx="4">
                  <c:v>58</c:v>
                </c:pt>
                <c:pt idx="5">
                  <c:v>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Retail</c:v>
                </c:pt>
                <c:pt idx="2">
                  <c:v>Partner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31</c:v>
                </c:pt>
                <c:pt idx="2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</c:v>
                </c:pt>
                <c:pt idx="1">
                  <c:v>51</c:v>
                </c:pt>
                <c:pt idx="2">
                  <c:v>55</c:v>
                </c:pt>
                <c:pt idx="3">
                  <c:v>62</c:v>
                </c:pt>
                <c:pt idx="4">
                  <c:v>68</c:v>
                </c:pt>
                <c:pt idx="5">
                  <c:v>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</c:v>
                </c:pt>
                <c:pt idx="1">
                  <c:v>43</c:v>
                </c:pt>
                <c:pt idx="2">
                  <c:v>49</c:v>
                </c:pt>
                <c:pt idx="3">
                  <c:v>53</c:v>
                </c:pt>
                <c:pt idx="4">
                  <c:v>58</c:v>
                </c:pt>
                <c:pt idx="5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 $k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West</c:v>
                </c:pt>
                <c:pt idx="2">
                  <c:v>South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</c:v>
                </c:pt>
                <c:pt idx="1">
                  <c:v>103</c:v>
                </c:pt>
                <c:pt idx="2">
                  <c:v>91</c:v>
                </c:pt>
                <c:pt idx="3">
                  <c:v>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48</c:v>
                </c:pt>
                <c:pt idx="2">
                  <c:v>51</c:v>
                </c:pt>
                <c:pt idx="3">
                  <c:v>57</c:v>
                </c:pt>
                <c:pt idx="4">
                  <c:v>61</c:v>
                </c:pt>
                <c:pt idx="5">
                  <c:v>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3">
                  <c:v>58</c:v>
                </c:pt>
                <c:pt idx="4">
                  <c:v>64</c:v>
                </c:pt>
                <c:pt idx="5">
                  <c:v>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hyperlink" Target="https://github.com/tertiarycourses/TGS-2020505444-Data-Analytics-and-Visualization-with-Power-BI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hyperlink" Target="https://github.com/tertiarycourses/TGS-2020505444-Data-Analytics-and-Visualization-with-Power-BI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0"/>
            <a:ext cx="6705295" cy="662025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30368" y="0"/>
            <a:ext cx="685800" cy="66202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"/>
            <a:ext cx="621792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566928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WSQ · DATA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060704"/>
            <a:ext cx="4846320" cy="1874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0F172A"/>
                </a:solidFill>
                <a:latin typeface="Arial"/>
              </a:rPr>
              <a:t>Data Analytics and Visualization with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3090672"/>
            <a:ext cx="44805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Arial"/>
              </a:rPr>
              <a:t>Turn data into trusted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3730752"/>
            <a:ext cx="43891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Course Code: TGS-2020505444
Version: v15.0 · 20 August 2026
Trainer: 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5074920"/>
            <a:ext cx="43891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Tertiary Infotech Academy Pte Ltd
UEN: 201200696W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Complete SSG digital attendance at the 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Complete the afternoon attendance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Complete the assessment attendance before the papers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trainer-provided TRAQOM QR code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TRAINER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About the Trainer · Approved Facilitator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292608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1828800"/>
            <a:ext cx="1188720" cy="1188720"/>
          </a:xfrm>
          <a:prstGeom prst="ellipse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21284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91840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Arial"/>
              </a:rPr>
              <a:t>Approved Facilitator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22191"/>
            <a:ext cx="2468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Profile template · 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325880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325880"/>
            <a:ext cx="73152" cy="6217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408176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1472184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[Trainer name]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084831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2084831"/>
            <a:ext cx="73152" cy="6217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2167127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231136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[Current role]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2843784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4760" y="2843784"/>
            <a:ext cx="73152" cy="6217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2926079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2990088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[Relevant credentials]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602735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3602735"/>
            <a:ext cx="73152" cy="6217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3685031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749039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[Power BI and data specialisms]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4361688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4361688"/>
            <a:ext cx="73152" cy="6217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1648" y="4443983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TRAINING &amp;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5312" y="4507992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[Industry and facilitation experience]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5120640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94760" y="5120640"/>
            <a:ext cx="73152" cy="6217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1648" y="5202936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5266944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[Professional contact]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TRAINER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About the Trainer · 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25880"/>
            <a:ext cx="292608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44752" y="1828800"/>
            <a:ext cx="1188720" cy="11887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212848"/>
            <a:ext cx="1188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91840"/>
            <a:ext cx="2468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0F172A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22191"/>
            <a:ext cx="2468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Founder · Trainer · Technologist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325880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325880"/>
            <a:ext cx="73152" cy="6217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408176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1472184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Dr Alfred 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084831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94760" y="2084831"/>
            <a:ext cx="73152" cy="6217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2167127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2231136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Founder and Lead Trainer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2843784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4760" y="2843784"/>
            <a:ext cx="73152" cy="6217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2926079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2990088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Adult educator and technology practitioner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3602735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3602735"/>
            <a:ext cx="73152" cy="6217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3685031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3749039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AI, analytics, automation and digital transformation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94760" y="4361688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4361688"/>
            <a:ext cx="73152" cy="62179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1648" y="4443983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TRAINING &amp;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5312" y="4507992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Industry-led, applied learning for working professionals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5120640"/>
            <a:ext cx="7818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94760" y="5120640"/>
            <a:ext cx="73152" cy="6217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41648" y="5202936"/>
            <a:ext cx="1874519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5312" y="5266944"/>
            <a:ext cx="53492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enquiry@tertiaryinfotech.com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LEARNER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Let’s Know Each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11137392" cy="48646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09344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01  </a:t>
            </a:r>
            <a:r>
              <a:rPr sz="1700">
                <a:solidFill>
                  <a:srgbClr val="0F172A"/>
                </a:solidFill>
                <a:latin typeface="Arial"/>
              </a:rPr>
              <a:t>Name and role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02  </a:t>
            </a:r>
            <a:r>
              <a:rPr sz="1700">
                <a:solidFill>
                  <a:srgbClr val="0F172A"/>
                </a:solidFill>
                <a:latin typeface="Arial"/>
              </a:rPr>
              <a:t>What decision do you support with data?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03  </a:t>
            </a:r>
            <a:r>
              <a:rPr sz="1700">
                <a:solidFill>
                  <a:srgbClr val="0F172A"/>
                </a:solidFill>
                <a:latin typeface="Arial"/>
              </a:rPr>
              <a:t>Your Power BI experience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04  </a:t>
            </a:r>
            <a:r>
              <a:rPr sz="1700">
                <a:solidFill>
                  <a:srgbClr val="0F172A"/>
                </a:solidFill>
                <a:latin typeface="Arial"/>
              </a:rPr>
              <a:t>One outcome you want from the course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LEARNING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Ground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Participate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Ask, test and explain your reasoning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Respect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One conversation; challenge ideas, not people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Focus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Phones silent and confidential data protected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Return promptly; 75% attendance is required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WSQ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Skills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Data Visualisation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TSC MED-DIT-4006-1.1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K1–K5: tools, methods, dashboards, displays and mapping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Abilities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A1–A6: select, design, build, review and align findings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ASSESSMENT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Knowledge and Ability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K1–K2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Tools, techniques and visual methods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K3–K5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Dashboards, display features and strategic mapping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A1–A3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Select fit-for-purpose tools, present trends and build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A4–A6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Review dynamic displays, design UX and align findings with SMEs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Perform data transformation techniques using Power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Create data visualizations that portray patterns, trends and correlations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Develop dashboards and scorecards for decision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Create dynamic and interactive data visualizations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Learning Outcomes · Model and Analyze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LO5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Create a data model for strategic visualization and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LO6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Perform data analytics and queries with DAX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TWO-DAY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Course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Power Query · visuals · reports ·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Day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Interactions · modeling · DAX · capstone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Written Assessment 60 min · Practical Performance 90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9:00 AM – 6:00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3584" y="1417320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09:00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Admin + outcomes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7208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02151" y="1417320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1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Morning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Concepts + labs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5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5775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19" y="1417320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19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7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12:45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7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Lunch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95743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4344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Afternoon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Applied build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54312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82911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7855" y="1417320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5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3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Final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Assessment on Day 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BEFORE THE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Briefing for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61872"/>
            <a:ext cx="11137392" cy="48646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09344"/>
            <a:ext cx="10378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01  </a:t>
            </a:r>
            <a:r>
              <a:rPr sz="1700">
                <a:solidFill>
                  <a:srgbClr val="0F172A"/>
                </a:solidFill>
                <a:latin typeface="Arial"/>
              </a:rPr>
              <a:t>Individual work; no discussion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0B981"/>
                </a:solidFill>
                <a:latin typeface="Arial"/>
              </a:rPr>
              <a:t>02  </a:t>
            </a:r>
            <a:r>
              <a:rPr sz="1700">
                <a:solidFill>
                  <a:srgbClr val="0F172A"/>
                </a:solidFill>
                <a:latin typeface="Arial"/>
              </a:rPr>
              <a:t>Open book: slides, Learner Guide and approved materials only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7C3AED"/>
                </a:solidFill>
                <a:latin typeface="Arial"/>
              </a:rPr>
              <a:t>03  </a:t>
            </a:r>
            <a:r>
              <a:rPr sz="1700">
                <a:solidFill>
                  <a:srgbClr val="0F172A"/>
                </a:solidFill>
                <a:latin typeface="Arial"/>
              </a:rPr>
              <a:t>Phones and other materials under the table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Arial"/>
              </a:rPr>
              <a:t>04  </a:t>
            </a:r>
            <a:r>
              <a:rPr sz="1700">
                <a:solidFill>
                  <a:srgbClr val="0F172A"/>
                </a:solidFill>
                <a:latin typeface="Arial"/>
              </a:rPr>
              <a:t>Use your own words and retain required evidence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6FEB"/>
                </a:solidFill>
                <a:latin typeface="Arial"/>
              </a:rPr>
              <a:t>05  </a:t>
            </a:r>
            <a:r>
              <a:rPr sz="1700">
                <a:solidFill>
                  <a:srgbClr val="0F172A"/>
                </a:solidFill>
                <a:latin typeface="Arial"/>
              </a:rPr>
              <a:t>Submit on the LMS and follow the appeal/reassessment process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Assessment and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Written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5 open-ended questions · K1–K5 · 60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Practical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5 applied tasks · A1–A6 · 90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Funding criteria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At least 75% attendance and Competent outcome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WA → PP →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3584" y="1417320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Scan the QR code on the LMS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7208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02151" y="1417320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1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Complete 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5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5775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19" y="1417320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19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7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7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Sit WA, then PP; open book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95743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4344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Upload answers on the LMS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54312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82911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7855" y="1417320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5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3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Complete the Assessment Summary Record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COURSE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Access Course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Option A ·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Sign in to https://lms-tms.tertiaryinfotech.com/
Open the course record → Courseware → download the current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Option B · 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Download ZIP or clone https://github.com/tertiarycourses/TGS-2020505444-Data-Analytics-and-Visualization-with-Power-BI.git
Each lab folder is self-contained.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05856"/>
            <a:ext cx="10789920" cy="438912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797296"/>
            <a:ext cx="10287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  <a:r>
              <a:rPr sz="1000">
                <a:solidFill>
                  <a:srgbClr val="64748B"/>
                </a:solidFill>
                <a:latin typeface="Arial"/>
              </a:rPr>
              <a:t>    ·    </a:t>
            </a:r>
            <a:r>
              <a:rPr sz="1000" b="1">
                <a:solidFill>
                  <a:srgbClr val="10B981"/>
                </a:solidFill>
                <a:latin typeface="Arial"/>
                <a:hlinkClick r:id="rId3"/>
              </a:rPr>
              <a:t>https://github.com/tertiarycourses/TGS-2020505444-Data-Analytics-and-Visualization-with-Power-BI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45720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600" b="1">
                <a:solidFill>
                  <a:srgbClr val="1E293B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98755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Get Started with Power BI and Power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5486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rial"/>
              </a:rPr>
              <a:t>K1 · A1 · LO1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Concepts on slides · detailed procedures in the Learner Guide and lab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From data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Descriptive, diagnostic, predictive, prescriptive and cognitive analytics support different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TOPIC 1 · CONSOLIDATED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Roles in the data team · The analyst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Roles in the data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Business experts frame the question; analysts transform evidence; engineers govern dependable data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The analyst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Prepare → model → visualize → analyze → publish → monitor; each stage leaves evidence for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Power BI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Desktop authors reports and semantic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Service distributes, refreshes, governs and collaborates.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Dataset, semantic model, report,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Separate reusable data logic from multi-page analysis and single-page monitoring.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Desktop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F59E0B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Report view composes visuals, Data view inspects loaded tables, and Model view manages relationships.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Connection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Files, folders, databases, web sources and cloud services differ in refresh, scale and governance.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Import or DirectQuery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Import favors speed and modeling freedom.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DirectQuery favors source currency but adds dependency and latency.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Navigator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Select only required tables and preview structure before loading to reduce noise and model size.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Power Query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Applied Steps make transformations visible, ordered, repeatable and auditable.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Promote headers and remove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Fix structural metadata before analytical logic so column names and data boundaries are reliable.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Choose and rename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Keep only decision-relevant fields and give them business-friendly names.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Pivot and unpivot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Wide layouts are human-friendly.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long tidy layouts are usually better for filtering, aggregation and visuals.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Replace values, nulls and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31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Differentiate genuine zero, missing, not applicable and invalid data before replacement.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Remove duplicates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Define the business key before deduplication.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repeated rows are not always duplicates.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Data types and locale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Types determine aggregation and date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locale determines how text values are interpreted.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Append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Stack tables with the same grain and schema, then reconcile before/after row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Merge 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35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Join tables by validated keys.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left outer, inner and full outer joins answer different integrity questions.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Column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Quality, distribution and profile views surface nulls, errors, outliers and unexpected cardinality.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 and Advanced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Power Query records transformations as 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readable steps improve reuse and troubleshooting.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1 · Connect, Inspect and Profile an Excel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LO1 · K1 · A1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profiled query with correct headers, types and documented quality issues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Retail_Intake.xlsx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All required tables load; column quality is reviewed; no unintended errors remain.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2 · Clean, Transform, Append and Merge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LO1 · K1 · A1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repeatable Power Query transformation pipeline with an audit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Retail_Quality_Issues.xlsx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Headers, types, nulls and duplicates are corrected; append and merge row counts reconcile.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45720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600" b="1">
                <a:solidFill>
                  <a:srgbClr val="1E293B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98755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Create Data Visualizations and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5486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rial"/>
              </a:rPr>
              <a:t>K2 · A2 · LO2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Concepts on slides · detailed procedures in the Learner Guide and lab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push dir="l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Start with 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Choose a visual only after naming the comparison, trend, distribution, relationship or composition to reveal.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Column and bar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 common baseline and descending order make the ranking immediately comparable.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TOPIC 2 · CONSOLIDATED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Line and area charts · Cards, KPIs and gauges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Line and area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lines for change over ordered time; use area sparingly when magnitude and composition both matter.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Cards, KPIs and gauges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Cards state a value, KPIs add direction and targets, and gauges show progress toward one bounded goal.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Combo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The editable visual links a measured pattern to a specific review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Decomposition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1F6FEB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Let users drill across candidate dimensions to explain a result without predefining one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VISUAL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Pie, doughnut and funnel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417320"/>
          <a:ext cx="33375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681728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PART TO WHOLE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10912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rial"/>
              </a:rPr>
              <a:t>Few categories; total = 100%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481328"/>
            <a:ext cx="3017520" cy="493776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636776"/>
            <a:ext cx="3017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76272"/>
            <a:ext cx="2377440" cy="493776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Qualified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871216"/>
            <a:ext cx="1737360" cy="49377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026664"/>
            <a:ext cx="1737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Proposal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566160"/>
            <a:ext cx="1097280" cy="49377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721608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Won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681728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ORDERED STAGES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010912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rial"/>
              </a:rPr>
              <a:t>Show conversion, not categories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417320"/>
            <a:ext cx="3749039" cy="41605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773936"/>
            <a:ext cx="2651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USE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67712"/>
            <a:ext cx="2971800" cy="2194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The whole is meaningful
Categories are few
Stages have a fixed order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Maps and choropleths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symbols for magnitude and filled regions for rates.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normalize before comparing unequal geographies.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Tables and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48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Tables preserve precise records.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matrices add hierarchy, subtotals and cross-tab analysis.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Scatter and bubble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49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Both measures rise together in this sample, but the display supports association—not a causal claim.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VISUAL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Ribbon, treemap and waterfall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7335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RIBBON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05840" y="2395728"/>
            <a:ext cx="2560320" cy="1078992"/>
          </a:xfrm>
          <a:prstGeom prst="line">
            <a:avLst/>
          </a:prstGeom>
          <a:ln w="1016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05840" y="2468880"/>
            <a:ext cx="2560320" cy="548640"/>
          </a:xfrm>
          <a:prstGeom prst="line">
            <a:avLst/>
          </a:prstGeom>
          <a:ln w="1016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840" y="3657600"/>
            <a:ext cx="2560320" cy="411480"/>
          </a:xfrm>
          <a:prstGeom prst="line">
            <a:avLst/>
          </a:prstGeom>
          <a:ln w="1016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473659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Rank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67335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TREEMAP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240280"/>
            <a:ext cx="1600200" cy="19202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8231" y="2240280"/>
            <a:ext cx="1024128" cy="1051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28231" y="3364992"/>
            <a:ext cx="1024128" cy="7955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73659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Hierarchy + area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371600"/>
            <a:ext cx="35661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167335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WATERFALL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22792" y="3429000"/>
            <a:ext cx="512064" cy="9144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36024" y="3209544"/>
            <a:ext cx="512064" cy="5669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49256" y="3063239"/>
            <a:ext cx="512064" cy="7132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62488" y="2788920"/>
            <a:ext cx="512064" cy="49377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4736592"/>
            <a:ext cx="2834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Additive bridge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Q&amp;A and smart narratives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Natural-language and generated summaries accelerate exploration but still require human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Numeric, grid and performance visuals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Match information density to the decision: glanceable status, precise lookup or target tracking.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Change and resize visuals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53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Changing type can change meaning.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protect labels, proportions and hierarchy when reflowing a page.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Format for comprehension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consistent color roles, restrained emphasis and direct labels to reduce decoding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Titles and backgrounds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Insight titles state the takeaway.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backgrounds should organize, not decorate.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Tooltips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tooltips for supporting context, definitions and secondary measures without crowding the main canvas.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Drill down and expand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57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Hierarchies support movement between levels.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keep the current level and path visible.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A theme standardizes color, type and defaults so reports remain coherent and maintainable.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Reading order, alt text, contrast, keyboard focus and non-color cues make insight available to more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3 · Choose Visuals for Trends and Correlations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INTERMEDIATE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LO2 · K2 · A2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one-page analytical report using fit-for-purpose native visuals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Sales_Trends.xlsx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Each visual answers a stated question; encodings are accurate; titles express insight.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4 · Design an Accessible Report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LO2 · K2 · A2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polished report page with hierarchy, theme, tooltips and accessible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Customer_Experience.xlsx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The page has a clear reading order, consistent formatting, alt text and no misleading scale.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45720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600" b="1">
                <a:solidFill>
                  <a:srgbClr val="1E293B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98755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Develop Dashboards and Scorecards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5486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rial"/>
              </a:rPr>
              <a:t>K3 · A3 · LO3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Concepts on slides · detailed procedures in the Learner Guide and lab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push dir="l"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Report versus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Reports are multi-page interactive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dashboards are one-page monitoring surfaces in Power BI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Dashboard development 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64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Define decisions → select KPIs → design tiles → publish → test → monitor and refine.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Pin a visual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7C3AED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Pinned tiles create a stable monitoring surface while preserving a path back to the source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Pin a live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A live page retains report interactions.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it when monitoring needs more than independent tiles.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Combine multiple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 dashboard can assemble governed signals from several reports into one executive 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Alerts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Revenue and margin need an owner and response; retention is above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Ask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69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Dashboard Q&amp;A supports fast exploration when model names, synonyms and relationships are business-friendly.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Quick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Automated patterns are hypotheses to review, not conclusions to accept without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Dashboard themes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71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Consistent themes support recognition across tiles without overwhelming status colors.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Mobile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Prioritize the few signals and actions needed on a small 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do not merely shrink desktop design.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Scorecards and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Revenue and margin need an owner and response; retention is above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Workspaces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Workspaces separate authoring, review and distribution responsibilities.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Apps and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Apps package approved content for audiences.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direct sharing is narrower and harder to govern at scale.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Refresh and gateways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Wednesday exceeded the refresh service level; investigate source availability and gateway health.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Dashboard storytelling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Arrange tiles from outcome to drivers to exceptions so executives can scan, diagnose and 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Dashboard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Verify current data, tile links, mobile view, ownership, permissions and decision usefulness before release.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5 · Build an Executive Dashboard and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INTERMEDIATE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LO3 · K3 · A3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Sales Monitoring dashboard and KPI scorecard in Power BI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Executive_KPIs.xlsx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Tiles and targets are current, decision-focused and traceable to the report.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800" b="1">
                <a:solidFill>
                  <a:srgbClr val="0F172A"/>
                </a:solidFill>
                <a:latin typeface="Arial"/>
              </a:rPr>
              <a:t>End of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Arial"/>
              </a:rPr>
              <a:t>Save your working PBIX files and complete the Excel evidence sheets.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push dir="l"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45720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600" b="1">
                <a:solidFill>
                  <a:srgbClr val="1E293B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98755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Create Dynamic and Interactive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5486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rial"/>
              </a:rPr>
              <a:t>K4 · A4 · LO4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Concepts on slides · detailed procedures in the Learner Guide and lab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push dir="l"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Interaction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Selections propagate through relationships and visual interactions.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every response should be intentional.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TOPIC 4 · CONSOLIDATED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Filter scope · Cross-filter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Filter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Dataset security, report filters, page filters, visual filters and drillthrough each control a different boundary.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Cross-filter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A selection removes unrelated marks so the page focuses on the chosen segment.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Cross-highlight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A selection highlights contribution while retaining the whole for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Edit interactions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Configure each visual to filter, highlight or ignore the source selection based on the stakeholder 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Slicers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7C3AED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Expose the few high-value filters users need and show the active selection clearly.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Sync slicers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87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Shared filter state creates continuity across pages.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avoid hidden states that surprise users.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Hierarchies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Ordered levels support drill paths such as Year → Quarter → Month or Region → Country → Store.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Drillthrough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89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Carry context from a summary mark to a focused detail page with a clear route back.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Bookmarks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Capture filter, display and navigation states to build guided stories and reset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Buttons and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consistent labels, states and placement so navigation feels predictable.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Conditional formatting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The editable visual links a measured pattern to a specific review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Report-page tooltips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Provide rich context on hover while keeping the primary view simple.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Field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94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Let users switch dimensions or measures without duplicating pages.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What-if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Turn a report into a controlled scenario tool while distinguishing assumptions from actuals.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Interactive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Preserve orientation with page titles, breadcrumbs, reset state and visible filter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Stakeholder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Test the display against real questions, expected actions and common misinterpretations.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6 · Create Dynamic Interactions and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INTERMEDIATE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LO4 · K4 · A4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An interactive report with slicers, drillthrough, bookmarks and tested interactions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Campaign_Performance.xlsx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Every interaction is intentional; drill paths work; reset navigation restores the default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45720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600" b="1">
                <a:solidFill>
                  <a:srgbClr val="1E293B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98755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Create a Strategic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5486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rial"/>
              </a:rPr>
              <a:t>K5 · A5 · LO5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Concepts on slides · detailed procedures in the Learner Guide and lab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push dir="l"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Semantic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A model organizes reusable business meaning: tables, relationships, measures, hierarchies and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101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A central fact table records events.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surrounding dimensions describe who, what, where and when.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Fact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1F6FEB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Facts have a declared grain, foreign keys and numeric observations suitable for aggregation.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TOPIC 5 · CONSOLIDATED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Dimension tables · Relationship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Dimension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Dimensions provide stable descriptive attributes for grouping, filtering and labeling.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Relationship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unique dimension keys and matching fact foreign keys; validate unmatched and duplicate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Cardinality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F59E0B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One-to-many is the normal star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one-to-one and many-to-many require explicit justification.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Cross-filter direction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105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Single direction is easier to reason about.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bidirectional filters can create ambiguity and unexpected totals.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Many-to-many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Bridge tables make shared membership explicit and prevent uncontrolled duplication.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Date dimension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107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A contiguous date table enables consistent calendar attributes and time intelligence.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Table and column properties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Names, formats, data categories and default summarization shape the authoring experience.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Hierarchies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Curated hierarchies guide valid drill paths and reduce repeated setup.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Measures calculate at query time and respond to filter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Calculated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Columns calculate row by row at refresh and increase model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them only when a stored attribute is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Granularity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112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Declare one row's meaning before combining sources or writing measures.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Role-playing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One Date table can relate to order, ship and due 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only one relationship is active at a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Remove unused columns, prefer star schemas, reduce high cardinality and keep transformations upstream where practical.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Business-friendly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Hide technical keys, group measures and use descriptions so authors find the right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Model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116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uniqueness, referential integrity, cardinality, filter paths, totals and refresh behavior before visualization.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7 · Model a Star Schema and Date Dimension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LO5 · K5 · A5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semantic model with fact/dimension relationships and a marked date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Star_Schema.xlsx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Relationships use correct keys/cardinality; filters flow predictably; model ambiguity is zero.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C3AED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96528" y="457200"/>
            <a:ext cx="256032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600" b="1">
                <a:solidFill>
                  <a:srgbClr val="1E293B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38528"/>
            <a:ext cx="98755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Analyze Data with DAX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30752"/>
            <a:ext cx="54864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Arial"/>
              </a:rPr>
              <a:t>A6 · LO6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9432"/>
            <a:ext cx="8595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Concepts on slides · detailed procedures in the Learner Guide and lab folders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>
    <p:push dir="l"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DAX purpose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DAX defines reusable calculations over a semantic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it is not a replacement for data cleaning.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Formula 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120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A calculation has a name, expression, functions, operators and references to tables, columns or measures.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Reference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44752"/>
            <a:ext cx="11000232" cy="2907792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914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5000" b="1">
                <a:solidFill>
                  <a:srgbClr val="10B981"/>
                </a:solidFill>
                <a:latin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973836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Columns require table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85032"/>
            <a:ext cx="9326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Arial"/>
              </a:rPr>
              <a:t>measures should be referenced by measure name to preserve reusable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8216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must be decided?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What supports the claim?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4645152"/>
            <a:ext cx="3566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855464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221284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rial"/>
              </a:rPr>
              <a:t>Who acts next?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Data types and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Type compatibility controls comparison, arithmetic and blank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TOPIC 6 · CONSOLIDATED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Row context · Filter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Row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Calculated columns and iterators evaluate one row at a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Filter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Visual axes, slicers, filters and CALCULATE define the subset a measure evaluates.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CALCULATE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124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CALCULATE evaluates an expression under modified filter context and is central to analytical DAX.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VAR and RETURN improve readability, avoid repeated evaluation and simplify debugging.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Implicit and explicit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126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Explicit measures centralize definitions, formatting and governance.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Core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Start with additive Sales, Cost and Quantity, then derive Profit and Margin from governed measures.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Safe division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DIVIDE handles zero or blank denominators more safely than the division operator.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Share of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129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Use part-to-whole only when the total is meaningful and categories are few.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Date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A marked date table with continuous dates underpins consistent time calculations.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Time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Current-year growth is positive in every month; verify calendar logic before acting on the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TOPN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 common baseline and descending order make the ranking immediately comparable.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Groups and bins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Grouping creates analytical segments.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bins reveal distribution at a chosen resolution.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Use a defined metric, source and filter state.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Translate the finding into an owner and next step.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Outliers and anomalies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Flag exceptions using statistical context, then investigate causes rather than treating detection as explanation.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DECISION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135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325880"/>
            <a:ext cx="658368" cy="658368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27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280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408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399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Clusters suggest similar records based on selected variables.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468880"/>
            <a:ext cx="658368" cy="65836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670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2423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542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business review is needed to name and use them.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611880"/>
            <a:ext cx="658368" cy="65836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813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3566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94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Check the result under a second filter or scenario.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" y="4754880"/>
            <a:ext cx="658368" cy="6583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956048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4709160"/>
            <a:ext cx="99669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4837176"/>
            <a:ext cx="2514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Arial"/>
              </a:rPr>
              <a:t>Communicate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4828032"/>
            <a:ext cx="681228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State finding, evidence, limitation and action.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Analyze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Automated increase/decrease explanations provide candidate drivers that require validation.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Decision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What-if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Disconnected parameter tables let users test assumptions without changing actual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Decision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Use the idea to support a real stakeholder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Quality check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Confirm grain, filter context and whether the display could be misread.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EDITABLE POWERPOINT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Trend lines and forecasts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371600"/>
          <a:ext cx="754380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371600"/>
            <a:ext cx="3063240" cy="422452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00784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176272"/>
            <a:ext cx="2432304" cy="2057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The observed series rises; the forecast extends direction with uncertainty that still needs business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4800600"/>
            <a:ext cx="2423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Chart is native and editable in PowerPoint.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CONCEPT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Align findings with SMEs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139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542032"/>
            <a:ext cx="2139696" cy="182880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8" y="3127248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DECISION
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73152" cy="1280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Translate measures into a claim, supporting evidence, limitations and an action for domain review.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37560" y="2057400"/>
            <a:ext cx="1691640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51392" y="14173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51392" y="1417320"/>
            <a:ext cx="73152" cy="1280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16002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9202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Use the idea to support a real stakeholder decision.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7168896" y="2057400"/>
            <a:ext cx="1682496" cy="139903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160520"/>
            <a:ext cx="73152" cy="1280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Validate grain, filters and definitions.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37560" y="3456432"/>
            <a:ext cx="1691640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851392" y="416052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4160520"/>
            <a:ext cx="73152" cy="1280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2" y="4343400"/>
            <a:ext cx="2240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9992" y="4663440"/>
            <a:ext cx="224028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rial"/>
              </a:rPr>
              <a:t>State evidence, limitation, owner and next action.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7168896" y="3456432"/>
            <a:ext cx="1682496" cy="1344168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8 · Create Core DAX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LO6 · 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Validated measures for Sales, Cost, Profit, Margin and share of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Sales_Model.xlsx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Measures reconcile to workbook controls and respond correctly to filter context.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9 · Apply Time Intelligence and Scenario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ADVANCED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LO6 · 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YTD, prior-period, Top N and what-if analysis with decision commentary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Scenario_Analysis.xlsx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Date logic is valid; parameters change results; findings state business meaning and limitations.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F6FEB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Lab 10 · Deliver the GlobalTech Sales Performance Cockpit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25880"/>
            <a:ext cx="2971800" cy="44988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6420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CAPSTONE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42316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6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231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BD5E1"/>
                </a:solidFill>
                <a:latin typeface="Arial"/>
              </a:rPr>
              <a:t>LO1–LO6 · K1–K5 · A1–A6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67328" y="1325880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7328" y="1325880"/>
            <a:ext cx="82296" cy="122529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80" y="14904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YOU'LL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1481328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A stakeholder-ready PBIX report, dashboard evidence and QA checklist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2825496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2825496"/>
            <a:ext cx="82296" cy="122529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990088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80944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GlobalTech_Capstone.xlsx · starter.pbix · README.md/PDF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67328" y="4325112"/>
            <a:ext cx="7754112" cy="12252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7328" y="4325112"/>
            <a:ext cx="82296" cy="122529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4489703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PASS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480559"/>
            <a:ext cx="5468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The solution meets all six outcomes, answers stakeholder questions and passes the evidence checklist.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67328" y="5513832"/>
            <a:ext cx="7754112" cy="384048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5614416"/>
            <a:ext cx="9601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0B981"/>
                </a:solidFill>
                <a:latin typeface="Arial"/>
              </a:rPr>
              <a:t>PROCEDURE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577840"/>
            <a:ext cx="5394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rial"/>
              </a:rPr>
              <a:t>Learner Guide + lab README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CAPSTONE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Capstone · From Evidence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143</a:t>
            </a:r>
          </a:p>
        </p:txBody>
      </p:sp>
      <p:pic>
        <p:nvPicPr>
          <p:cNvPr id="7" name="Picture 6" descr="capstone-review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261872"/>
            <a:ext cx="781812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0352" y="1261872"/>
            <a:ext cx="35204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2788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2697480" cy="2423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GlobalTech leaders need one defensible performance cockpit: prepare trustworthy data, model it clearly, calculate governed measures and communicate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138928"/>
            <a:ext cx="274320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Concept visual · validate every conclusion with the supplied data.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059669"/>
                </a:solidFill>
                <a:latin typeface="Arial"/>
              </a:rPr>
              <a:t>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Capstone Acceptance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10881360" cy="4462272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Arial"/>
              </a:rPr>
              <a:t>PASS THE EVIDENCE GATE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286000"/>
            <a:ext cx="329184" cy="329184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50008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267712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Refresh succeeds and transformations are documented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2990088"/>
            <a:ext cx="329184" cy="329184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54096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71800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Star schema and relationships pass integrity checks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694176"/>
            <a:ext cx="329184" cy="329184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758184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675888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DAX totals reconcile to Excel controls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398264"/>
            <a:ext cx="329184" cy="329184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62272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379976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Every visual answers a stakeholder question</a:t>
            </a:r>
          </a:p>
        </p:txBody>
      </p:sp>
      <p:sp>
        <p:nvSpPr>
          <p:cNvPr id="21" name="Oval 20"/>
          <p:cNvSpPr/>
          <p:nvPr/>
        </p:nvSpPr>
        <p:spPr>
          <a:xfrm>
            <a:off x="960120" y="5102352"/>
            <a:ext cx="329184" cy="329184"/>
          </a:xfrm>
          <a:prstGeom prst="ellipse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66360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084064"/>
            <a:ext cx="92354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rial"/>
              </a:rPr>
              <a:t>Interactions, accessibility and mobile layout are tested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What You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Perform data transformation techniques using Power 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Create data visualizations that portray patterns, trends and correlations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Develop dashboards and scorecards for decision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LO4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Create dynamic and interactive data visualizations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COURSE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What You Achieved · Model and Analyze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5394960" cy="1097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rial"/>
              </a:rPr>
              <a:t>LO5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Create a data model for strategic visualization and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160520"/>
            <a:ext cx="114300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7" y="4507992"/>
            <a:ext cx="196596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7" y="4855464"/>
            <a:ext cx="2788920" cy="16459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7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5394960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673352"/>
            <a:ext cx="4800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Arial"/>
              </a:rPr>
              <a:t>LO6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359152"/>
            <a:ext cx="48006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Arial"/>
              </a:rPr>
              <a:t>Perform data analytics and queries with DAX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6248" y="4160520"/>
            <a:ext cx="114300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6248" y="4507992"/>
            <a:ext cx="196596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4855464"/>
            <a:ext cx="2788920" cy="16459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22992" y="4096512"/>
            <a:ext cx="621792" cy="621792"/>
          </a:xfrm>
          <a:prstGeom prst="ellipse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4288536"/>
            <a:ext cx="6217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F6FEB"/>
                </a:solidFill>
                <a:latin typeface="Arial"/>
              </a:rPr>
              <a:t>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Slides, Learner Guide and lab materials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WA then Practical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Upload completed answers and 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4440" y="5596128"/>
            <a:ext cx="9738360" cy="457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1328" y="5705856"/>
            <a:ext cx="9235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C2626"/>
                </a:solidFill>
                <a:latin typeface="Arial"/>
              </a:rPr>
              <a:t>FINAL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89888"/>
            <a:ext cx="3566160" cy="128016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704088" y="1627632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5 open-ended knowledge questions · 60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736592"/>
            <a:ext cx="438912" cy="34747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72768" y="4736592"/>
            <a:ext cx="438912" cy="658368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49424" y="4736592"/>
            <a:ext cx="438912" cy="96012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F6FEB"/>
                </a:solidFill>
                <a:latin typeface="Arial"/>
              </a:rPr>
              <a:t>SIGNAL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389888"/>
            <a:ext cx="3566160" cy="12801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4544568" y="1627632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5 applied tasks · 90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36592" y="4736592"/>
            <a:ext cx="438912" cy="34747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13248" y="4736592"/>
            <a:ext cx="438912" cy="658368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9904" y="4736592"/>
            <a:ext cx="438912" cy="9601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0B981"/>
                </a:solidFill>
                <a:latin typeface="Arial"/>
              </a:rPr>
              <a:t>SIGNAL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389888"/>
            <a:ext cx="3566160" cy="4462272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389888"/>
            <a:ext cx="3566160" cy="128016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912" y="1682496"/>
            <a:ext cx="530352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Oval 31"/>
          <p:cNvSpPr/>
          <p:nvPr/>
        </p:nvSpPr>
        <p:spPr>
          <a:xfrm>
            <a:off x="8385048" y="1627632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5048" y="1728216"/>
            <a:ext cx="640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2423160"/>
            <a:ext cx="306324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3182112"/>
            <a:ext cx="306324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Assessment answers and evidence on the LMS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77072" y="4736592"/>
            <a:ext cx="438912" cy="34747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53728" y="4736592"/>
            <a:ext cx="438912" cy="65836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0384" y="4736592"/>
            <a:ext cx="438912" cy="9601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4919472"/>
            <a:ext cx="6583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Arial"/>
              </a:rPr>
              <a:t>FINAL REMINDER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3584" y="1417320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TRAQOM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Scan the QR code on the LMS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7208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02151" y="1417320"/>
            <a:ext cx="640080" cy="6400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1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Complete 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5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5775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0719" y="1417320"/>
            <a:ext cx="640080" cy="64008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19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7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7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Sit WA, then PP; open book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95743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4344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Upload answers on the LMS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54312" y="3337560"/>
            <a:ext cx="228600" cy="0"/>
          </a:xfrm>
          <a:prstGeom prst="line">
            <a:avLst/>
          </a:prstGeom>
          <a:ln w="19050">
            <a:solidFill>
              <a:srgbClr val="64748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82911" y="1828800"/>
            <a:ext cx="2029967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7855" y="1417320"/>
            <a:ext cx="640080" cy="64008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5" y="1618488"/>
            <a:ext cx="640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3" y="2267712"/>
            <a:ext cx="1700784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2971800"/>
            <a:ext cx="1700784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334155"/>
                </a:solidFill>
                <a:latin typeface="Arial"/>
              </a:rPr>
              <a:t>Complete the Assessment Summary Record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TRAQOM · SSG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82296" cy="20299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4" y="1664208"/>
            <a:ext cx="502920" cy="502920"/>
          </a:xfrm>
          <a:prstGeom prst="ellipse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Complete the SSG assessment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53312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353312"/>
            <a:ext cx="82296" cy="20299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7376" y="1664208"/>
            <a:ext cx="502920" cy="5029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78308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1" y="1609344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TRAQOM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2139696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Scan the trainer-provided QR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0352" y="3657600"/>
            <a:ext cx="82296" cy="202996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968496"/>
            <a:ext cx="502920" cy="5029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Confirm the attendance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3657600"/>
            <a:ext cx="5413248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344" y="3657600"/>
            <a:ext cx="82296" cy="20299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37376" y="3968496"/>
            <a:ext cx="502920" cy="50292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408736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1" y="3913632"/>
            <a:ext cx="4114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4443984"/>
            <a:ext cx="411480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Then complete the Assessment Summary Record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07792"/>
            <a:ext cx="9966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Arial"/>
              </a:rPr>
              <a:t>Turn evidence into a clear decision — and make the reasoning reviewable.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enquiry@tertiaryinfotech.com · +65 6100 0613 · www.tertiarycourses.com.sg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28600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COURSE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21207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47688"/>
            <a:ext cx="996696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Data Analytics and Visualization with Power BI · TGS-2020505444 · 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647688"/>
            <a:ext cx="502920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pic>
        <p:nvPicPr>
          <p:cNvPr id="7" name="Picture 6" descr="ref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478" y="1229867"/>
            <a:ext cx="9566739" cy="4759453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09584" y="6071616"/>
            <a:ext cx="10972527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and Visualization with Power BI</dc:title>
  <dc:subject>WSQ TGS-2020505444</dc:subject>
  <dc:creator>Tertiary Infotech Academy Pte Ltd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